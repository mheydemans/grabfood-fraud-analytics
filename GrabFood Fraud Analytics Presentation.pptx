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74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26101B0-C3CB-48FC-906F-42AA4BAE6BE4}" v="7" dt="2026-08-16T13:28:36.4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19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" userId="eb872568-909c-4a9b-bb0d-13351bf48062" providerId="ADAL" clId="{2272CA73-BA38-4BEA-9F6A-DD8935D29295}"/>
    <pc:docChg chg="custSel modSld">
      <pc:chgData name="Michael" userId="eb872568-909c-4a9b-bb0d-13351bf48062" providerId="ADAL" clId="{2272CA73-BA38-4BEA-9F6A-DD8935D29295}" dt="2026-08-16T13:29:13.484" v="74" actId="1076"/>
      <pc:docMkLst>
        <pc:docMk/>
      </pc:docMkLst>
      <pc:sldChg chg="modSp mod">
        <pc:chgData name="Michael" userId="eb872568-909c-4a9b-bb0d-13351bf48062" providerId="ADAL" clId="{2272CA73-BA38-4BEA-9F6A-DD8935D29295}" dt="2026-08-16T13:23:55.463" v="4" actId="20577"/>
        <pc:sldMkLst>
          <pc:docMk/>
          <pc:sldMk cId="0" sldId="256"/>
        </pc:sldMkLst>
        <pc:spChg chg="mod">
          <ac:chgData name="Michael" userId="eb872568-909c-4a9b-bb0d-13351bf48062" providerId="ADAL" clId="{2272CA73-BA38-4BEA-9F6A-DD8935D29295}" dt="2026-08-16T13:23:55.463" v="4" actId="20577"/>
          <ac:spMkLst>
            <pc:docMk/>
            <pc:sldMk cId="0" sldId="256"/>
            <ac:spMk id="9" creationId="{00000000-0000-0000-0000-000000000000}"/>
          </ac:spMkLst>
        </pc:spChg>
      </pc:sldChg>
      <pc:sldChg chg="delSp modSp mod">
        <pc:chgData name="Michael" userId="eb872568-909c-4a9b-bb0d-13351bf48062" providerId="ADAL" clId="{2272CA73-BA38-4BEA-9F6A-DD8935D29295}" dt="2026-08-16T13:29:13.484" v="74" actId="1076"/>
        <pc:sldMkLst>
          <pc:docMk/>
          <pc:sldMk cId="0" sldId="276"/>
        </pc:sldMkLst>
        <pc:spChg chg="mod">
          <ac:chgData name="Michael" userId="eb872568-909c-4a9b-bb0d-13351bf48062" providerId="ADAL" clId="{2272CA73-BA38-4BEA-9F6A-DD8935D29295}" dt="2026-08-16T13:25:57.547" v="26" actId="1076"/>
          <ac:spMkLst>
            <pc:docMk/>
            <pc:sldMk cId="0" sldId="276"/>
            <ac:spMk id="5" creationId="{00000000-0000-0000-0000-000000000000}"/>
          </ac:spMkLst>
        </pc:spChg>
        <pc:spChg chg="mod">
          <ac:chgData name="Michael" userId="eb872568-909c-4a9b-bb0d-13351bf48062" providerId="ADAL" clId="{2272CA73-BA38-4BEA-9F6A-DD8935D29295}" dt="2026-08-16T13:26:03.059" v="27" actId="1076"/>
          <ac:spMkLst>
            <pc:docMk/>
            <pc:sldMk cId="0" sldId="276"/>
            <ac:spMk id="6" creationId="{00000000-0000-0000-0000-000000000000}"/>
          </ac:spMkLst>
        </pc:spChg>
        <pc:spChg chg="mod">
          <ac:chgData name="Michael" userId="eb872568-909c-4a9b-bb0d-13351bf48062" providerId="ADAL" clId="{2272CA73-BA38-4BEA-9F6A-DD8935D29295}" dt="2026-08-16T13:29:13.484" v="74" actId="1076"/>
          <ac:spMkLst>
            <pc:docMk/>
            <pc:sldMk cId="0" sldId="276"/>
            <ac:spMk id="7" creationId="{00000000-0000-0000-0000-000000000000}"/>
          </ac:spMkLst>
        </pc:spChg>
        <pc:spChg chg="del mod">
          <ac:chgData name="Michael" userId="eb872568-909c-4a9b-bb0d-13351bf48062" providerId="ADAL" clId="{2272CA73-BA38-4BEA-9F6A-DD8935D29295}" dt="2026-08-16T13:25:06.117" v="18" actId="478"/>
          <ac:spMkLst>
            <pc:docMk/>
            <pc:sldMk cId="0" sldId="276"/>
            <ac:spMk id="8" creationId="{00000000-0000-0000-0000-000000000000}"/>
          </ac:spMkLst>
        </pc:spChg>
        <pc:spChg chg="del mod">
          <ac:chgData name="Michael" userId="eb872568-909c-4a9b-bb0d-13351bf48062" providerId="ADAL" clId="{2272CA73-BA38-4BEA-9F6A-DD8935D29295}" dt="2026-08-16T13:29:09.709" v="73" actId="478"/>
          <ac:spMkLst>
            <pc:docMk/>
            <pc:sldMk cId="0" sldId="276"/>
            <ac:spMk id="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28496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9EAF7"/>
          </a:solidFill>
          <a:ln w="12700">
            <a:solidFill>
              <a:srgbClr val="D9EAF7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027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C8CA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027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C8CA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Text 1"/>
          <p:cNvSpPr/>
          <p:nvPr/>
        </p:nvSpPr>
        <p:spPr>
          <a:xfrm>
            <a:off x="777240" y="1417320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73A5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GrabFood Fraud Analytics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2240280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E74B5"/>
                </a:solidFill>
              </a:rPr>
              <a:t>Deteksi Kebocoran Subsidi GrabUnlimited &amp; Prioritas Investigasi Merchant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22960" y="27889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</a:rPr>
              <a:t>Capstone Project Module 3 • Business &amp; Data Analyst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4069080"/>
            <a:ext cx="219456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BFD7ED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2E74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300K
</a:t>
            </a:r>
            <a:r>
              <a:rPr lang="en-US" sz="1050" dirty="0">
                <a:solidFill>
                  <a:srgbClr val="173A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orders dianalisis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246120" y="4069080"/>
            <a:ext cx="192024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BFD7ED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2E74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8K
</a:t>
            </a:r>
            <a:r>
              <a:rPr lang="en-US" sz="1050" dirty="0">
                <a:solidFill>
                  <a:srgbClr val="173A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merchant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394960" y="4069080"/>
            <a:ext cx="192024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BFD7ED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2E74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40K
</a:t>
            </a:r>
            <a:r>
              <a:rPr lang="en-US" sz="1050" dirty="0">
                <a:solidFill>
                  <a:srgbClr val="173A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62362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/>
              <a:t>JCBDAAH-006-016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027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C8CA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92608"/>
            <a:ext cx="1024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A5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Alur Analisis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9552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Notebook diterjemahkan menjadi cerita bisnis: dari pemahaman masalah hingga rekomendasi aksi.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48640" y="1115568"/>
            <a:ext cx="11064240" cy="0"/>
          </a:xfrm>
          <a:prstGeom prst="line">
            <a:avLst/>
          </a:prstGeom>
          <a:noFill/>
          <a:ln w="12700">
            <a:solidFill>
              <a:srgbClr val="BFD7ED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" name="Text 3"/>
          <p:cNvSpPr/>
          <p:nvPr/>
        </p:nvSpPr>
        <p:spPr>
          <a:xfrm>
            <a:off x="749808" y="1591056"/>
            <a:ext cx="475488" cy="475488"/>
          </a:xfrm>
          <a:prstGeom prst="rect">
            <a:avLst/>
          </a:prstGeom>
          <a:solidFill>
            <a:srgbClr val="2E74B5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17320" y="1572768"/>
            <a:ext cx="969264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73A5E"/>
                </a:solidFill>
              </a:rPr>
              <a:t>Business Understanding
</a:t>
            </a:r>
            <a:r>
              <a:rPr lang="en-US" sz="1400" dirty="0">
                <a:solidFill>
                  <a:srgbClr val="1F2937"/>
                </a:solidFill>
              </a:rPr>
              <a:t>masalah, tujuan, pertanyaan bisnis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49808" y="2468880"/>
            <a:ext cx="475488" cy="475488"/>
          </a:xfrm>
          <a:prstGeom prst="rect">
            <a:avLst/>
          </a:prstGeom>
          <a:solidFill>
            <a:srgbClr val="2E74B5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17320" y="2450592"/>
            <a:ext cx="969264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73A5E"/>
                </a:solidFill>
              </a:rPr>
              <a:t>Load &amp; Understanding Data
</a:t>
            </a:r>
            <a:r>
              <a:rPr lang="en-US" sz="1400" dirty="0">
                <a:solidFill>
                  <a:srgbClr val="1F2937"/>
                </a:solidFill>
              </a:rPr>
              <a:t>struktur data, kualitas awal, anomali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49808" y="3346704"/>
            <a:ext cx="475488" cy="475488"/>
          </a:xfrm>
          <a:prstGeom prst="rect">
            <a:avLst/>
          </a:prstGeom>
          <a:solidFill>
            <a:srgbClr val="2E74B5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17320" y="3328416"/>
            <a:ext cx="969264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73A5E"/>
                </a:solidFill>
              </a:rPr>
              <a:t>Cleaning &amp; Feature Engineering
</a:t>
            </a:r>
            <a:r>
              <a:rPr lang="en-US" sz="1400" dirty="0">
                <a:solidFill>
                  <a:srgbClr val="1F2937"/>
                </a:solidFill>
              </a:rPr>
              <a:t>standardisasi, flag anomali, dataset analisis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49808" y="4224528"/>
            <a:ext cx="475488" cy="475488"/>
          </a:xfrm>
          <a:prstGeom prst="rect">
            <a:avLst/>
          </a:prstGeom>
          <a:solidFill>
            <a:srgbClr val="173A5E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17320" y="4206240"/>
            <a:ext cx="969264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73A5E"/>
                </a:solidFill>
              </a:rPr>
              <a:t>EDA &amp; Merchant Risk Analysis
</a:t>
            </a:r>
            <a:r>
              <a:rPr lang="en-US" sz="1400" dirty="0">
                <a:solidFill>
                  <a:srgbClr val="1F2937"/>
                </a:solidFill>
              </a:rPr>
              <a:t>KPI, pola risiko, prioritas investigasi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49808" y="5102352"/>
            <a:ext cx="475488" cy="475488"/>
          </a:xfrm>
          <a:prstGeom prst="rect">
            <a:avLst/>
          </a:prstGeom>
          <a:solidFill>
            <a:srgbClr val="173A5E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17320" y="5084064"/>
            <a:ext cx="969264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73A5E"/>
                </a:solidFill>
              </a:rPr>
              <a:t>Jawaban, Kesimpulan, Rekomendasi
</a:t>
            </a:r>
            <a:r>
              <a:rPr lang="en-US" sz="1400" dirty="0">
                <a:solidFill>
                  <a:srgbClr val="1F2937"/>
                </a:solidFill>
              </a:rPr>
              <a:t>insight yang bisa ditindaklanjuti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8640" y="647395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193A9"/>
                </a:solidFill>
              </a:rPr>
              <a:t>GrabFood Fraud Analytics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027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C8CA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92608"/>
            <a:ext cx="1024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A5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Business Understanding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9552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Risiko utama: subsidi promo bisa bocor ketika promo subscription dieksploitasi oleh transaksi tidak wajar.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48640" y="1115568"/>
            <a:ext cx="11064240" cy="0"/>
          </a:xfrm>
          <a:prstGeom prst="line">
            <a:avLst/>
          </a:prstGeom>
          <a:noFill/>
          <a:ln w="12700">
            <a:solidFill>
              <a:srgbClr val="BFD7ED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" name="Text 3"/>
          <p:cNvSpPr/>
          <p:nvPr/>
        </p:nvSpPr>
        <p:spPr>
          <a:xfrm>
            <a:off x="548640" y="122529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74B5"/>
                </a:solidFill>
              </a:rPr>
              <a:t>BUSINESS CONTEXT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21792" y="1508760"/>
            <a:ext cx="548640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73A5E"/>
                </a:solidFill>
              </a:rPr>
              <a:t>GrabUnlimited dirancang untuk meningkatkan retensi, tetapi celah promo dapat dimanfaatkan melalui merchant/resto fiktif dan transaksi fiktif.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58368" y="2697480"/>
            <a:ext cx="5486400" cy="2286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• Subsidi promo menjadi beban biaya ketika dipakai pada transaksi tidak wajar.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• Driver organik terdampak ketika order menuju resto yang tidak ditemukan.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• Cancel reason yang kosong/tidak konsisten menghambat investigasi.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• Logical error pada timestamp dapat menjadi sinyal bug atau manipulasi status.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92240" y="1600200"/>
            <a:ext cx="4937760" cy="1417320"/>
          </a:xfrm>
          <a:prstGeom prst="rect">
            <a:avLst/>
          </a:prstGeom>
          <a:solidFill>
            <a:srgbClr val="F2F8FF"/>
          </a:solidFill>
          <a:ln w="10160">
            <a:solidFill>
              <a:srgbClr val="BFD7E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2E74B5"/>
                </a:solidFill>
              </a:rPr>
              <a:t>Business objective
</a:t>
            </a:r>
            <a:r>
              <a:rPr lang="en-US" sz="1300" dirty="0">
                <a:solidFill>
                  <a:srgbClr val="1F2937"/>
                </a:solidFill>
              </a:rPr>
              <a:t>Membangun dasar analisis untuk mengurangi kebocoran subsidi, memperbaiki kualitas data, dan menyusun daftar merchant prioritas investigasi.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92240" y="3246120"/>
            <a:ext cx="4937760" cy="1143000"/>
          </a:xfrm>
          <a:prstGeom prst="rect">
            <a:avLst/>
          </a:prstGeom>
          <a:solidFill>
            <a:srgbClr val="FFFFFF"/>
          </a:solidFill>
          <a:ln w="10160">
            <a:solidFill>
              <a:srgbClr val="BFD7E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2E74B5"/>
                </a:solidFill>
              </a:rPr>
              <a:t>Stakeholder
</a:t>
            </a:r>
            <a:r>
              <a:rPr lang="en-US" sz="1300" dirty="0">
                <a:solidFill>
                  <a:srgbClr val="1F2937"/>
                </a:solidFill>
              </a:rPr>
              <a:t>Fraud Ops, Merchant Quality, Product/Engineering, Finance, dan Operations City Team.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92240" y="4617720"/>
            <a:ext cx="4937760" cy="1143000"/>
          </a:xfrm>
          <a:prstGeom prst="rect">
            <a:avLst/>
          </a:prstGeom>
          <a:solidFill>
            <a:srgbClr val="FFFFFF"/>
          </a:solidFill>
          <a:ln w="10160">
            <a:solidFill>
              <a:srgbClr val="BFD7E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2E74B5"/>
                </a:solidFill>
              </a:rPr>
              <a:t>Output analisis
</a:t>
            </a:r>
            <a:r>
              <a:rPr lang="en-US" sz="1300" dirty="0">
                <a:solidFill>
                  <a:srgbClr val="1F2937"/>
                </a:solidFill>
              </a:rPr>
              <a:t>KPI risiko, visualisasi anomali, risk scoring merchant, jawaban pertanyaan bisnis, dan rekomendasi aksi.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647395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193A9"/>
                </a:solidFill>
              </a:rPr>
              <a:t>1. Business Understanding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027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C8CA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92608"/>
            <a:ext cx="1024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A5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Pertanyaan Analisis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9552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Pertanyaan disusun mengikuti kebutuhan bisnis dan problem statement studi kasus.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48640" y="1115568"/>
            <a:ext cx="11064240" cy="0"/>
          </a:xfrm>
          <a:prstGeom prst="line">
            <a:avLst/>
          </a:prstGeom>
          <a:noFill/>
          <a:ln w="12700">
            <a:solidFill>
              <a:srgbClr val="BFD7ED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5166360" cy="1051560"/>
          </a:xfrm>
          <a:prstGeom prst="rect">
            <a:avLst/>
          </a:prstGeom>
          <a:solidFill>
            <a:srgbClr val="F2F8FF"/>
          </a:solidFill>
          <a:ln w="10160">
            <a:solidFill>
              <a:srgbClr val="BFD7E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</a:rPr>
              <a:t>Apakah ada merchant dengan transaksi sukses tinggi namun hanya didominasi 2–3 user yang sama?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95528" y="150876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4B5"/>
                </a:solidFill>
              </a:rPr>
              <a:t>Q1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263640" y="1417320"/>
            <a:ext cx="5166360" cy="1051560"/>
          </a:xfrm>
          <a:prstGeom prst="rect">
            <a:avLst/>
          </a:prstGeom>
          <a:solidFill>
            <a:srgbClr val="FFFFFF"/>
          </a:solidFill>
          <a:ln w="10160">
            <a:solidFill>
              <a:srgbClr val="BFD7E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</a:rPr>
              <a:t>Berapa estimasi subsidi promo yang berisiko akibat transaksi tidak wajar?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373368" y="150876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4B5"/>
                </a:solidFill>
              </a:rPr>
              <a:t>Q2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2834640"/>
            <a:ext cx="5166360" cy="1051560"/>
          </a:xfrm>
          <a:prstGeom prst="rect">
            <a:avLst/>
          </a:prstGeom>
          <a:solidFill>
            <a:srgbClr val="F2F8FF"/>
          </a:solidFill>
          <a:ln w="10160">
            <a:solidFill>
              <a:srgbClr val="BFD7E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</a:rPr>
              <a:t>Seberapa kotor penulisan status order dan cancel reason dalam database?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95528" y="29260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4B5"/>
                </a:solidFill>
              </a:rPr>
              <a:t>Q3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263640" y="2834640"/>
            <a:ext cx="5166360" cy="1051560"/>
          </a:xfrm>
          <a:prstGeom prst="rect">
            <a:avLst/>
          </a:prstGeom>
          <a:solidFill>
            <a:srgbClr val="FFFFFF"/>
          </a:solidFill>
          <a:ln w="10160">
            <a:solidFill>
              <a:srgbClr val="BFD7E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</a:rPr>
              <a:t>Berapa persentase order gagal/batal yang tidak memiliki alasan pembatalan?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373368" y="29260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4B5"/>
                </a:solidFill>
              </a:rPr>
              <a:t>Q4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" y="4251960"/>
            <a:ext cx="5166360" cy="1051560"/>
          </a:xfrm>
          <a:prstGeom prst="rect">
            <a:avLst/>
          </a:prstGeom>
          <a:solidFill>
            <a:srgbClr val="F2F8FF"/>
          </a:solidFill>
          <a:ln w="10160">
            <a:solidFill>
              <a:srgbClr val="BFD7E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</a:rPr>
              <a:t>Berapa banyak order completed dengan urutan waktu yang tidak logis?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95528" y="43434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4B5"/>
                </a:solidFill>
              </a:rPr>
              <a:t>Q5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63640" y="4251960"/>
            <a:ext cx="5166360" cy="1051560"/>
          </a:xfrm>
          <a:prstGeom prst="rect">
            <a:avLst/>
          </a:prstGeom>
          <a:solidFill>
            <a:srgbClr val="FFFFFF"/>
          </a:solidFill>
          <a:ln w="10160">
            <a:solidFill>
              <a:srgbClr val="BFD7E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</a:rPr>
              <a:t>Cuisine type apa yang paling besar terekspos risiko subsidi outlier?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373368" y="43434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4B5"/>
                </a:solidFill>
              </a:rPr>
              <a:t>Q6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193A9"/>
                </a:solidFill>
              </a:rPr>
              <a:t>1. Business Understanding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027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C8CA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92608"/>
            <a:ext cx="1024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A5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Import Library dan Load Data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9552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Tahap awal memastikan semua tabel berhasil dibaca dan siap digabung untuk analisis.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48640" y="1115568"/>
            <a:ext cx="11064240" cy="0"/>
          </a:xfrm>
          <a:prstGeom prst="line">
            <a:avLst/>
          </a:prstGeom>
          <a:noFill/>
          <a:ln w="12700">
            <a:solidFill>
              <a:srgbClr val="BFD7ED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" name="Text 3"/>
          <p:cNvSpPr/>
          <p:nvPr/>
        </p:nvSpPr>
        <p:spPr>
          <a:xfrm>
            <a:off x="731520" y="1417320"/>
            <a:ext cx="2651760" cy="1051560"/>
          </a:xfrm>
          <a:prstGeom prst="rect">
            <a:avLst/>
          </a:prstGeom>
          <a:solidFill>
            <a:srgbClr val="F2F8FF"/>
          </a:solidFill>
          <a:ln w="10160">
            <a:solidFill>
              <a:srgbClr val="BFD7ED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2E74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300.000
</a:t>
            </a:r>
            <a:r>
              <a:rPr lang="en-US" sz="1050" dirty="0">
                <a:solidFill>
                  <a:srgbClr val="173A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baris orders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749040" y="1417320"/>
            <a:ext cx="2194560" cy="1051560"/>
          </a:xfrm>
          <a:prstGeom prst="rect">
            <a:avLst/>
          </a:prstGeom>
          <a:solidFill>
            <a:srgbClr val="F2F8FF"/>
          </a:solidFill>
          <a:ln w="10160">
            <a:solidFill>
              <a:srgbClr val="BFD7ED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2E74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8.000
</a:t>
            </a:r>
            <a:r>
              <a:rPr lang="en-US" sz="1050" dirty="0">
                <a:solidFill>
                  <a:srgbClr val="173A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merchant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263640" y="1417320"/>
            <a:ext cx="2194560" cy="1051560"/>
          </a:xfrm>
          <a:prstGeom prst="rect">
            <a:avLst/>
          </a:prstGeom>
          <a:solidFill>
            <a:srgbClr val="F2F8FF"/>
          </a:solidFill>
          <a:ln w="10160">
            <a:solidFill>
              <a:srgbClr val="BFD7ED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2E74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40.000
</a:t>
            </a:r>
            <a:r>
              <a:rPr lang="en-US" sz="1050" dirty="0">
                <a:solidFill>
                  <a:srgbClr val="173A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778240" y="1417320"/>
            <a:ext cx="2194560" cy="1051560"/>
          </a:xfrm>
          <a:prstGeom prst="rect">
            <a:avLst/>
          </a:prstGeom>
          <a:solidFill>
            <a:srgbClr val="F2F8FF"/>
          </a:solidFill>
          <a:ln w="10160">
            <a:solidFill>
              <a:srgbClr val="BFD7ED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2E74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
</a:t>
            </a:r>
            <a:r>
              <a:rPr lang="en-US" sz="1050" dirty="0">
                <a:solidFill>
                  <a:srgbClr val="173A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tabel utama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29718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3A5E"/>
                </a:solidFill>
              </a:rPr>
              <a:t>Library yang digunakan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77240" y="3429000"/>
            <a:ext cx="4754880" cy="2011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</a:rPr>
              <a:t>• pandas &amp; numpy untuk manipulasi data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</a:rPr>
              <a:t>• matplotlib/seaborn untuk visualisasi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</a:rPr>
              <a:t>• Path untuk akses file yang fleksibel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</a:rPr>
              <a:t>• warnings untuk merapikan output notebook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00800" y="29718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3A5E"/>
                </a:solidFill>
              </a:rPr>
              <a:t>Tujuan load data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446520" y="3429000"/>
            <a:ext cx="4754880" cy="2011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</a:rPr>
              <a:t>• Membaca tiga CSV ke DataFrame.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</a:rPr>
              <a:t>• Memastikan bentuk data sesuai dataset dictionary.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</a:rPr>
              <a:t>• Menyiapkan join order ↔ merchant ↔ user.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</a:rPr>
              <a:t>• Membangun satu dataset analisis di tahap cleaning.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48640" y="647395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193A9"/>
                </a:solidFill>
              </a:rPr>
              <a:t>2. Import Library dan Load Data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027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C8CA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92608"/>
            <a:ext cx="1024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A5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Struktur Dataset: Fact dan Dimension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9552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Orders menjadi tabel transaksi utama; merchant dan user memberi konteks terhadap setiap order.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48640" y="1115568"/>
            <a:ext cx="11064240" cy="0"/>
          </a:xfrm>
          <a:prstGeom prst="line">
            <a:avLst/>
          </a:prstGeom>
          <a:noFill/>
          <a:ln w="12700">
            <a:solidFill>
              <a:srgbClr val="BFD7ED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" name="Text 3"/>
          <p:cNvSpPr/>
          <p:nvPr/>
        </p:nvSpPr>
        <p:spPr>
          <a:xfrm>
            <a:off x="868680" y="1920240"/>
            <a:ext cx="3154680" cy="1005840"/>
          </a:xfrm>
          <a:prstGeom prst="rect">
            <a:avLst/>
          </a:prstGeom>
          <a:solidFill>
            <a:srgbClr val="2E74B5"/>
          </a:solidFill>
          <a:ln>
            <a:solidFill>
              <a:srgbClr val="2E74B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grab_food_orders.csv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Fact table: kejadian transaksi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806440" y="1143000"/>
            <a:ext cx="4160520" cy="960120"/>
          </a:xfrm>
          <a:prstGeom prst="rect">
            <a:avLst/>
          </a:prstGeom>
          <a:solidFill>
            <a:srgbClr val="F2F8FF"/>
          </a:solidFill>
          <a:ln>
            <a:solidFill>
              <a:srgbClr val="BFD7E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A5E"/>
                </a:solidFill>
              </a:rPr>
              <a:t>grab_merchants.csv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73A5E"/>
                </a:solidFill>
              </a:rPr>
              <a:t>Dimension: nama, cuisine, city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806440" y="3474720"/>
            <a:ext cx="4160520" cy="960120"/>
          </a:xfrm>
          <a:prstGeom prst="rect">
            <a:avLst/>
          </a:prstGeom>
          <a:solidFill>
            <a:srgbClr val="FFFFFF"/>
          </a:solidFill>
          <a:ln>
            <a:solidFill>
              <a:srgbClr val="BFD7E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A5E"/>
                </a:solidFill>
              </a:rPr>
              <a:t>grab_users.csv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73A5E"/>
                </a:solidFill>
              </a:rPr>
              <a:t>Dimension: status GrabUnlimited, umur akun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68680" y="5074920"/>
            <a:ext cx="9784080" cy="713232"/>
          </a:xfrm>
          <a:prstGeom prst="rect">
            <a:avLst/>
          </a:prstGeom>
          <a:solidFill>
            <a:srgbClr val="FFFFFF"/>
          </a:solidFill>
          <a:ln w="10160">
            <a:solidFill>
              <a:srgbClr val="BFD7E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2E74B5"/>
                </a:solidFill>
              </a:rPr>
              <a:t>Mengapa disebut dimension?
</a:t>
            </a:r>
            <a:r>
              <a:rPr lang="en-US" sz="1300" dirty="0">
                <a:solidFill>
                  <a:srgbClr val="1F2937"/>
                </a:solidFill>
              </a:rPr>
              <a:t>Karena tabel merchant dan user tidak berisi transaksi, tetapi atribut deskriptif yang memperkaya analisis transaksi.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647395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193A9"/>
                </a:solidFill>
              </a:rPr>
              <a:t>2. Import Library dan Load Data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027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C8CA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9D5D6A80-7015-D179-BCAC-F659B79CA71F}"/>
              </a:ext>
            </a:extLst>
          </p:cNvPr>
          <p:cNvSpPr/>
          <p:nvPr/>
        </p:nvSpPr>
        <p:spPr>
          <a:xfrm rot="20936048">
            <a:off x="4327119" y="1602956"/>
            <a:ext cx="1283793" cy="581765"/>
          </a:xfrm>
          <a:prstGeom prst="right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err="1"/>
              <a:t>Merchant_ID</a:t>
            </a:r>
            <a:endParaRPr lang="en-ID" sz="1000" dirty="0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BBE8AFB3-79DB-64CF-E2C0-A2145DE46D52}"/>
              </a:ext>
            </a:extLst>
          </p:cNvPr>
          <p:cNvSpPr/>
          <p:nvPr/>
        </p:nvSpPr>
        <p:spPr>
          <a:xfrm rot="1286836">
            <a:off x="4309103" y="3138118"/>
            <a:ext cx="1283793" cy="581765"/>
          </a:xfrm>
          <a:prstGeom prst="right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err="1"/>
              <a:t>User_ID</a:t>
            </a:r>
            <a:endParaRPr lang="en-ID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92608"/>
            <a:ext cx="1024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A5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Data Understanding: Kualitas Awal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9552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Pengecekan awal memastikan data bisa digunakan sebelum masuk ke cleaning dan analisis.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48640" y="1115568"/>
            <a:ext cx="11064240" cy="0"/>
          </a:xfrm>
          <a:prstGeom prst="line">
            <a:avLst/>
          </a:prstGeom>
          <a:noFill/>
          <a:ln w="12700">
            <a:solidFill>
              <a:srgbClr val="BFD7ED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5" name="Image 0" descr="/mnt/data/grab_ppt_prof_assets/data_quality_ke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627582"/>
            <a:ext cx="5669280" cy="227695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583680" y="1417320"/>
            <a:ext cx="2194560" cy="841248"/>
          </a:xfrm>
          <a:prstGeom prst="rect">
            <a:avLst/>
          </a:prstGeom>
          <a:solidFill>
            <a:srgbClr val="F2F8FF"/>
          </a:solidFill>
          <a:ln w="10160">
            <a:solidFill>
              <a:srgbClr val="BFD7ED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74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
</a:t>
            </a:r>
            <a:r>
              <a:rPr lang="en-US" sz="1050" dirty="0">
                <a:solidFill>
                  <a:srgbClr val="173A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duplicate order_id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9052560" y="1417320"/>
            <a:ext cx="2194560" cy="841248"/>
          </a:xfrm>
          <a:prstGeom prst="rect">
            <a:avLst/>
          </a:prstGeom>
          <a:solidFill>
            <a:srgbClr val="F2F8FF"/>
          </a:solidFill>
          <a:ln w="10160">
            <a:solidFill>
              <a:srgbClr val="BFD7ED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74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
</a:t>
            </a:r>
            <a:r>
              <a:rPr lang="en-US" sz="1050" dirty="0">
                <a:solidFill>
                  <a:srgbClr val="173A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merchant_id hilang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583680" y="2514600"/>
            <a:ext cx="2194560" cy="841248"/>
          </a:xfrm>
          <a:prstGeom prst="rect">
            <a:avLst/>
          </a:prstGeom>
          <a:solidFill>
            <a:srgbClr val="F2F8FF"/>
          </a:solidFill>
          <a:ln w="10160">
            <a:solidFill>
              <a:srgbClr val="BFD7ED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74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
</a:t>
            </a:r>
            <a:r>
              <a:rPr lang="en-US" sz="1050" dirty="0">
                <a:solidFill>
                  <a:srgbClr val="173A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user_id hilang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052560" y="2514600"/>
            <a:ext cx="2194560" cy="841248"/>
          </a:xfrm>
          <a:prstGeom prst="rect">
            <a:avLst/>
          </a:prstGeom>
          <a:solidFill>
            <a:srgbClr val="F2F8FF"/>
          </a:solidFill>
          <a:ln w="10160">
            <a:solidFill>
              <a:srgbClr val="BFD7ED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74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
</a:t>
            </a:r>
            <a:r>
              <a:rPr lang="en-US" sz="1050" dirty="0">
                <a:solidFill>
                  <a:srgbClr val="173A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masalah utama terdeteksi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629400" y="3886200"/>
            <a:ext cx="4572000" cy="1554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• Key antar tabel valid sehingga data aman untuk di-join.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• Masalah utama bukan di duplikasi, melainkan inkonsistensi status, missing cancel reason, dan anomali promo.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• Data Understanding menjadi dasar keputusan cleaning pada Step 4.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" y="647395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193A9"/>
                </a:solidFill>
              </a:rPr>
              <a:t>3. Data Understanding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027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C8CA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92608"/>
            <a:ext cx="1024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A5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Data Understanding: Anomali promo_discount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9552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Distribusi promo menunjukkan batas normal mayoritas data dan nilai ekstrem yang perlu ditandai.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48640" y="1115568"/>
            <a:ext cx="11064240" cy="0"/>
          </a:xfrm>
          <a:prstGeom prst="line">
            <a:avLst/>
          </a:prstGeom>
          <a:noFill/>
          <a:ln w="12700">
            <a:solidFill>
              <a:srgbClr val="BFD7ED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5" name="Image 0" descr="/mnt/data/grab_ppt_prof_assets/promo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701338"/>
            <a:ext cx="6583680" cy="35010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452360" y="1554480"/>
            <a:ext cx="4023360" cy="1051560"/>
          </a:xfrm>
          <a:prstGeom prst="rect">
            <a:avLst/>
          </a:prstGeom>
          <a:solidFill>
            <a:srgbClr val="F2F8FF"/>
          </a:solidFill>
          <a:ln w="10160">
            <a:solidFill>
              <a:srgbClr val="BFD7E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2E74B5"/>
                </a:solidFill>
              </a:rPr>
              <a:t>Temuan
</a:t>
            </a:r>
            <a:r>
              <a:rPr lang="en-US" sz="1300" dirty="0">
                <a:solidFill>
                  <a:srgbClr val="1F2937"/>
                </a:solidFill>
              </a:rPr>
              <a:t>Promo normal terkonsentrasi pada Rp0–Rp30.000. Nilai Rp9.999.999 muncul sebagai outlier ekstrem.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452360" y="2880360"/>
            <a:ext cx="4023360" cy="1143000"/>
          </a:xfrm>
          <a:prstGeom prst="rect">
            <a:avLst/>
          </a:prstGeom>
          <a:solidFill>
            <a:srgbClr val="FFFFFF"/>
          </a:solidFill>
          <a:ln w="10160">
            <a:solidFill>
              <a:srgbClr val="BFD7E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2E74B5"/>
                </a:solidFill>
              </a:rPr>
              <a:t>Persentil 99,5
</a:t>
            </a:r>
            <a:r>
              <a:rPr lang="en-US" sz="1300" dirty="0">
                <a:solidFill>
                  <a:srgbClr val="1F2937"/>
                </a:solidFill>
              </a:rPr>
              <a:t>Batas ini membantu melihat nilai maksimum yang masih mencakup ±99,5% data. Pada dataset ini nilainya Rp30.000.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452360" y="4297680"/>
            <a:ext cx="4023360" cy="914400"/>
          </a:xfrm>
          <a:prstGeom prst="rect">
            <a:avLst/>
          </a:prstGeom>
          <a:solidFill>
            <a:srgbClr val="FFFFFF"/>
          </a:solidFill>
          <a:ln w="10160">
            <a:solidFill>
              <a:srgbClr val="BFD7E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2E74B5"/>
                </a:solidFill>
              </a:rPr>
              <a:t>Catatan
</a:t>
            </a:r>
            <a:r>
              <a:rPr lang="en-US" sz="1300" dirty="0">
                <a:solidFill>
                  <a:srgbClr val="1F2937"/>
                </a:solidFill>
              </a:rPr>
              <a:t>1.403 transaksi memiliki promo negatif, sehingga tidak dipakai mengurangi estimasi subsidi.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647395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193A9"/>
                </a:solidFill>
              </a:rPr>
              <a:t>3. Data Understanding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027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C8CA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92608"/>
            <a:ext cx="1024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A5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Data Cleaning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9552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Cleaning memperbaiki data yang sudah ada agar konsisten dan bisa dihitung dengan benar.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48640" y="1115568"/>
            <a:ext cx="11064240" cy="0"/>
          </a:xfrm>
          <a:prstGeom prst="line">
            <a:avLst/>
          </a:prstGeom>
          <a:noFill/>
          <a:ln w="12700">
            <a:solidFill>
              <a:srgbClr val="BFD7ED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2926080" cy="960120"/>
          </a:xfrm>
          <a:prstGeom prst="rect">
            <a:avLst/>
          </a:prstGeom>
          <a:solidFill>
            <a:srgbClr val="F2F8FF"/>
          </a:solidFill>
          <a:ln w="10160">
            <a:solidFill>
              <a:srgbClr val="BFD7ED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2E74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→ 3
</a:t>
            </a:r>
            <a:r>
              <a:rPr lang="en-US" sz="1050" dirty="0">
                <a:solidFill>
                  <a:srgbClr val="173A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variasi status menjadi kategori standar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977640" y="1371600"/>
            <a:ext cx="2926080" cy="960120"/>
          </a:xfrm>
          <a:prstGeom prst="rect">
            <a:avLst/>
          </a:prstGeom>
          <a:solidFill>
            <a:srgbClr val="F2F8FF"/>
          </a:solidFill>
          <a:ln w="10160">
            <a:solidFill>
              <a:srgbClr val="BFD7ED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74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datetime
</a:t>
            </a:r>
            <a:r>
              <a:rPr lang="en-US" sz="1050" dirty="0">
                <a:solidFill>
                  <a:srgbClr val="173A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format waktu siap dibandingkan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223760" y="1371600"/>
            <a:ext cx="2926080" cy="960120"/>
          </a:xfrm>
          <a:prstGeom prst="rect">
            <a:avLst/>
          </a:prstGeom>
          <a:solidFill>
            <a:srgbClr val="F2F8FF"/>
          </a:solidFill>
          <a:ln w="10160">
            <a:solidFill>
              <a:srgbClr val="BFD7ED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74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positive_promo
</a:t>
            </a:r>
            <a:r>
              <a:rPr lang="en-US" sz="1050" dirty="0">
                <a:solidFill>
                  <a:srgbClr val="173A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promo negatif tidak mengurangi subsidi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84555" y="2887675"/>
            <a:ext cx="2911450" cy="431140"/>
          </a:xfrm>
          <a:prstGeom prst="rect">
            <a:avLst/>
          </a:prstGeom>
          <a:solidFill>
            <a:srgbClr val="2E74B5"/>
          </a:solidFill>
          <a:ln w="5080">
            <a:solidFill>
              <a:srgbClr val="BFD7E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30" b="1" dirty="0">
                <a:solidFill>
                  <a:srgbClr val="FFFFFF"/>
                </a:solidFill>
              </a:rPr>
              <a:t>Raw status</a:t>
            </a:r>
            <a:endParaRPr lang="en-US" sz="1030" dirty="0"/>
          </a:p>
        </p:txBody>
      </p:sp>
      <p:sp>
        <p:nvSpPr>
          <p:cNvPr id="9" name="Text 7"/>
          <p:cNvSpPr/>
          <p:nvPr/>
        </p:nvSpPr>
        <p:spPr>
          <a:xfrm>
            <a:off x="3710635" y="2887675"/>
            <a:ext cx="2179930" cy="431140"/>
          </a:xfrm>
          <a:prstGeom prst="rect">
            <a:avLst/>
          </a:prstGeom>
          <a:solidFill>
            <a:srgbClr val="2E74B5"/>
          </a:solidFill>
          <a:ln w="5080">
            <a:solidFill>
              <a:srgbClr val="BFD7E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30" b="1" dirty="0">
                <a:solidFill>
                  <a:srgbClr val="FFFFFF"/>
                </a:solidFill>
              </a:rPr>
              <a:t>Status bersih</a:t>
            </a:r>
            <a:endParaRPr lang="en-US" sz="1030" dirty="0"/>
          </a:p>
        </p:txBody>
      </p:sp>
      <p:sp>
        <p:nvSpPr>
          <p:cNvPr id="10" name="Text 8"/>
          <p:cNvSpPr/>
          <p:nvPr/>
        </p:nvSpPr>
        <p:spPr>
          <a:xfrm>
            <a:off x="784555" y="3333445"/>
            <a:ext cx="2911450" cy="431140"/>
          </a:xfrm>
          <a:prstGeom prst="rect">
            <a:avLst/>
          </a:prstGeom>
          <a:solidFill>
            <a:srgbClr val="FFFFFF"/>
          </a:solidFill>
          <a:ln w="5080">
            <a:solidFill>
              <a:srgbClr val="BFD7E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F2937"/>
                </a:solidFill>
              </a:rPr>
              <a:t>Completed / DONE / Selesai</a:t>
            </a:r>
            <a:endParaRPr lang="en-US" sz="1030" dirty="0"/>
          </a:p>
        </p:txBody>
      </p:sp>
      <p:sp>
        <p:nvSpPr>
          <p:cNvPr id="11" name="Text 9"/>
          <p:cNvSpPr/>
          <p:nvPr/>
        </p:nvSpPr>
        <p:spPr>
          <a:xfrm>
            <a:off x="3710635" y="3333445"/>
            <a:ext cx="2179930" cy="431140"/>
          </a:xfrm>
          <a:prstGeom prst="rect">
            <a:avLst/>
          </a:prstGeom>
          <a:solidFill>
            <a:srgbClr val="FFFFFF"/>
          </a:solidFill>
          <a:ln w="5080">
            <a:solidFill>
              <a:srgbClr val="BFD7E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F2937"/>
                </a:solidFill>
              </a:rPr>
              <a:t>Completed</a:t>
            </a:r>
            <a:endParaRPr lang="en-US" sz="1030" dirty="0"/>
          </a:p>
        </p:txBody>
      </p:sp>
      <p:sp>
        <p:nvSpPr>
          <p:cNvPr id="12" name="Text 10"/>
          <p:cNvSpPr/>
          <p:nvPr/>
        </p:nvSpPr>
        <p:spPr>
          <a:xfrm>
            <a:off x="784555" y="3779215"/>
            <a:ext cx="2911450" cy="431140"/>
          </a:xfrm>
          <a:prstGeom prst="rect">
            <a:avLst/>
          </a:prstGeom>
          <a:solidFill>
            <a:srgbClr val="F8FBFF"/>
          </a:solidFill>
          <a:ln w="5080">
            <a:solidFill>
              <a:srgbClr val="BFD7E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F2937"/>
                </a:solidFill>
              </a:rPr>
              <a:t>Cancel / CANCELED / batal</a:t>
            </a:r>
            <a:endParaRPr lang="en-US" sz="1030" dirty="0"/>
          </a:p>
        </p:txBody>
      </p:sp>
      <p:sp>
        <p:nvSpPr>
          <p:cNvPr id="13" name="Text 11"/>
          <p:cNvSpPr/>
          <p:nvPr/>
        </p:nvSpPr>
        <p:spPr>
          <a:xfrm>
            <a:off x="3710635" y="3779215"/>
            <a:ext cx="2179930" cy="431140"/>
          </a:xfrm>
          <a:prstGeom prst="rect">
            <a:avLst/>
          </a:prstGeom>
          <a:solidFill>
            <a:srgbClr val="F8FBFF"/>
          </a:solidFill>
          <a:ln w="5080">
            <a:solidFill>
              <a:srgbClr val="BFD7E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F2937"/>
                </a:solidFill>
              </a:rPr>
              <a:t>Canceled</a:t>
            </a:r>
            <a:endParaRPr lang="en-US" sz="1030" dirty="0"/>
          </a:p>
        </p:txBody>
      </p:sp>
      <p:sp>
        <p:nvSpPr>
          <p:cNvPr id="14" name="Text 12"/>
          <p:cNvSpPr/>
          <p:nvPr/>
        </p:nvSpPr>
        <p:spPr>
          <a:xfrm>
            <a:off x="784555" y="4224985"/>
            <a:ext cx="2911450" cy="431140"/>
          </a:xfrm>
          <a:prstGeom prst="rect">
            <a:avLst/>
          </a:prstGeom>
          <a:solidFill>
            <a:srgbClr val="FFFFFF"/>
          </a:solidFill>
          <a:ln w="5080">
            <a:solidFill>
              <a:srgbClr val="BFD7E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F2937"/>
                </a:solidFill>
              </a:rPr>
              <a:t>Failed</a:t>
            </a:r>
            <a:endParaRPr lang="en-US" sz="1030" dirty="0"/>
          </a:p>
        </p:txBody>
      </p:sp>
      <p:sp>
        <p:nvSpPr>
          <p:cNvPr id="15" name="Text 13"/>
          <p:cNvSpPr/>
          <p:nvPr/>
        </p:nvSpPr>
        <p:spPr>
          <a:xfrm>
            <a:off x="3710635" y="4224985"/>
            <a:ext cx="2179930" cy="431140"/>
          </a:xfrm>
          <a:prstGeom prst="rect">
            <a:avLst/>
          </a:prstGeom>
          <a:solidFill>
            <a:srgbClr val="FFFFFF"/>
          </a:solidFill>
          <a:ln w="5080">
            <a:solidFill>
              <a:srgbClr val="BFD7E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F2937"/>
                </a:solidFill>
              </a:rPr>
              <a:t>Failed</a:t>
            </a:r>
            <a:endParaRPr lang="en-US" sz="1030" dirty="0"/>
          </a:p>
        </p:txBody>
      </p:sp>
      <p:sp>
        <p:nvSpPr>
          <p:cNvPr id="16" name="Text 14"/>
          <p:cNvSpPr/>
          <p:nvPr/>
        </p:nvSpPr>
        <p:spPr>
          <a:xfrm>
            <a:off x="6446520" y="28346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3A5E"/>
                </a:solidFill>
              </a:rPr>
              <a:t>Prinsip penting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492240" y="3246120"/>
            <a:ext cx="4480560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F2937"/>
                </a:solidFill>
              </a:rPr>
              <a:t>• Data mentah tetap disimpan sebagai pembanding.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F2937"/>
                </a:solidFill>
              </a:rPr>
              <a:t>• Kolom hasil standardisasi dipakai untuk KPI dan analisis.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F2937"/>
                </a:solidFill>
              </a:rPr>
              <a:t>• Konversi waktu memungkinkan pengecekan logical error.</a:t>
            </a:r>
            <a:endParaRPr lang="en-US" sz="1320" dirty="0"/>
          </a:p>
        </p:txBody>
      </p:sp>
      <p:sp>
        <p:nvSpPr>
          <p:cNvPr id="18" name="Text 16"/>
          <p:cNvSpPr/>
          <p:nvPr/>
        </p:nvSpPr>
        <p:spPr>
          <a:xfrm>
            <a:off x="548640" y="647395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193A9"/>
                </a:solidFill>
              </a:rPr>
              <a:t>4. Data Cleaning dan Feature Engineering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027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C8CA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92608"/>
            <a:ext cx="1024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A5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Feature Engineering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9552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Kolom turunan dibuat agar pola anomali lebih mudah dianalisis.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48640" y="1115568"/>
            <a:ext cx="11064240" cy="0"/>
          </a:xfrm>
          <a:prstGeom prst="line">
            <a:avLst/>
          </a:prstGeom>
          <a:noFill/>
          <a:ln w="12700">
            <a:solidFill>
              <a:srgbClr val="BFD7ED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" name="Text 3"/>
          <p:cNvSpPr/>
          <p:nvPr/>
        </p:nvSpPr>
        <p:spPr>
          <a:xfrm>
            <a:off x="601675" y="1378915"/>
            <a:ext cx="2362810" cy="640690"/>
          </a:xfrm>
          <a:prstGeom prst="rect">
            <a:avLst/>
          </a:prstGeom>
          <a:solidFill>
            <a:srgbClr val="2E74B5"/>
          </a:solidFill>
          <a:ln w="5080">
            <a:solidFill>
              <a:srgbClr val="BFD7E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30" b="1" dirty="0">
                <a:solidFill>
                  <a:srgbClr val="FFFFFF"/>
                </a:solidFill>
              </a:rPr>
              <a:t>Feature</a:t>
            </a:r>
            <a:endParaRPr lang="en-US" sz="1030" dirty="0"/>
          </a:p>
        </p:txBody>
      </p:sp>
      <p:sp>
        <p:nvSpPr>
          <p:cNvPr id="6" name="Text 4"/>
          <p:cNvSpPr/>
          <p:nvPr/>
        </p:nvSpPr>
        <p:spPr>
          <a:xfrm>
            <a:off x="2979115" y="1378915"/>
            <a:ext cx="3963010" cy="640690"/>
          </a:xfrm>
          <a:prstGeom prst="rect">
            <a:avLst/>
          </a:prstGeom>
          <a:solidFill>
            <a:srgbClr val="2E74B5"/>
          </a:solidFill>
          <a:ln w="5080">
            <a:solidFill>
              <a:srgbClr val="BFD7E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30" b="1" dirty="0">
                <a:solidFill>
                  <a:srgbClr val="FFFFFF"/>
                </a:solidFill>
              </a:rPr>
              <a:t>Logika</a:t>
            </a:r>
            <a:endParaRPr lang="en-US" sz="1030" dirty="0"/>
          </a:p>
        </p:txBody>
      </p:sp>
      <p:sp>
        <p:nvSpPr>
          <p:cNvPr id="7" name="Text 5"/>
          <p:cNvSpPr/>
          <p:nvPr/>
        </p:nvSpPr>
        <p:spPr>
          <a:xfrm>
            <a:off x="6956755" y="1378915"/>
            <a:ext cx="4603090" cy="640690"/>
          </a:xfrm>
          <a:prstGeom prst="rect">
            <a:avLst/>
          </a:prstGeom>
          <a:solidFill>
            <a:srgbClr val="2E74B5"/>
          </a:solidFill>
          <a:ln w="5080">
            <a:solidFill>
              <a:srgbClr val="BFD7E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30" b="1" dirty="0">
                <a:solidFill>
                  <a:srgbClr val="FFFFFF"/>
                </a:solidFill>
              </a:rPr>
              <a:t>Fungsi analisis</a:t>
            </a:r>
            <a:endParaRPr lang="en-US" sz="1030" dirty="0"/>
          </a:p>
        </p:txBody>
      </p:sp>
      <p:sp>
        <p:nvSpPr>
          <p:cNvPr id="8" name="Text 6"/>
          <p:cNvSpPr/>
          <p:nvPr/>
        </p:nvSpPr>
        <p:spPr>
          <a:xfrm>
            <a:off x="601675" y="2034235"/>
            <a:ext cx="2362810" cy="640690"/>
          </a:xfrm>
          <a:prstGeom prst="rect">
            <a:avLst/>
          </a:prstGeom>
          <a:solidFill>
            <a:srgbClr val="FFFFFF"/>
          </a:solidFill>
          <a:ln w="5080">
            <a:solidFill>
              <a:srgbClr val="BFD7E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F2937"/>
                </a:solidFill>
              </a:rPr>
              <a:t>is_success / is_cancel / is_failed</a:t>
            </a:r>
            <a:endParaRPr lang="en-US" sz="1030" dirty="0"/>
          </a:p>
        </p:txBody>
      </p:sp>
      <p:sp>
        <p:nvSpPr>
          <p:cNvPr id="9" name="Text 7"/>
          <p:cNvSpPr/>
          <p:nvPr/>
        </p:nvSpPr>
        <p:spPr>
          <a:xfrm>
            <a:off x="2979115" y="2034235"/>
            <a:ext cx="3963010" cy="640690"/>
          </a:xfrm>
          <a:prstGeom prst="rect">
            <a:avLst/>
          </a:prstGeom>
          <a:solidFill>
            <a:srgbClr val="FFFFFF"/>
          </a:solidFill>
          <a:ln w="5080">
            <a:solidFill>
              <a:srgbClr val="BFD7E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F2937"/>
                </a:solidFill>
              </a:rPr>
              <a:t>status_clean = kategori terkait</a:t>
            </a:r>
            <a:endParaRPr lang="en-US" sz="1030" dirty="0"/>
          </a:p>
        </p:txBody>
      </p:sp>
      <p:sp>
        <p:nvSpPr>
          <p:cNvPr id="10" name="Text 8"/>
          <p:cNvSpPr/>
          <p:nvPr/>
        </p:nvSpPr>
        <p:spPr>
          <a:xfrm>
            <a:off x="6956755" y="2034235"/>
            <a:ext cx="4603090" cy="640690"/>
          </a:xfrm>
          <a:prstGeom prst="rect">
            <a:avLst/>
          </a:prstGeom>
          <a:solidFill>
            <a:srgbClr val="FFFFFF"/>
          </a:solidFill>
          <a:ln w="5080">
            <a:solidFill>
              <a:srgbClr val="BFD7E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F2937"/>
                </a:solidFill>
              </a:rPr>
              <a:t>Menghitung KPI order</a:t>
            </a:r>
            <a:endParaRPr lang="en-US" sz="1030" dirty="0"/>
          </a:p>
        </p:txBody>
      </p:sp>
      <p:sp>
        <p:nvSpPr>
          <p:cNvPr id="11" name="Text 9"/>
          <p:cNvSpPr/>
          <p:nvPr/>
        </p:nvSpPr>
        <p:spPr>
          <a:xfrm>
            <a:off x="601675" y="2689555"/>
            <a:ext cx="2362810" cy="640690"/>
          </a:xfrm>
          <a:prstGeom prst="rect">
            <a:avLst/>
          </a:prstGeom>
          <a:solidFill>
            <a:srgbClr val="F8FBFF"/>
          </a:solidFill>
          <a:ln w="5080">
            <a:solidFill>
              <a:srgbClr val="BFD7E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F2937"/>
                </a:solidFill>
              </a:rPr>
              <a:t>logical_error</a:t>
            </a:r>
            <a:endParaRPr lang="en-US" sz="1030" dirty="0"/>
          </a:p>
        </p:txBody>
      </p:sp>
      <p:sp>
        <p:nvSpPr>
          <p:cNvPr id="12" name="Text 10"/>
          <p:cNvSpPr/>
          <p:nvPr/>
        </p:nvSpPr>
        <p:spPr>
          <a:xfrm>
            <a:off x="2979115" y="2689555"/>
            <a:ext cx="3963010" cy="640690"/>
          </a:xfrm>
          <a:prstGeom prst="rect">
            <a:avLst/>
          </a:prstGeom>
          <a:solidFill>
            <a:srgbClr val="F8FBFF"/>
          </a:solidFill>
          <a:ln w="5080">
            <a:solidFill>
              <a:srgbClr val="BFD7E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F2937"/>
                </a:solidFill>
              </a:rPr>
              <a:t>Completed &amp; completed_time &lt; driver_arrived_time</a:t>
            </a:r>
            <a:endParaRPr lang="en-US" sz="1030" dirty="0"/>
          </a:p>
        </p:txBody>
      </p:sp>
      <p:sp>
        <p:nvSpPr>
          <p:cNvPr id="13" name="Text 11"/>
          <p:cNvSpPr/>
          <p:nvPr/>
        </p:nvSpPr>
        <p:spPr>
          <a:xfrm>
            <a:off x="6956755" y="2689555"/>
            <a:ext cx="4603090" cy="640690"/>
          </a:xfrm>
          <a:prstGeom prst="rect">
            <a:avLst/>
          </a:prstGeom>
          <a:solidFill>
            <a:srgbClr val="F8FBFF"/>
          </a:solidFill>
          <a:ln w="5080">
            <a:solidFill>
              <a:srgbClr val="BFD7E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F2937"/>
                </a:solidFill>
              </a:rPr>
              <a:t>Red flag bug/manipulasi waktu</a:t>
            </a:r>
            <a:endParaRPr lang="en-US" sz="1030" dirty="0"/>
          </a:p>
        </p:txBody>
      </p:sp>
      <p:sp>
        <p:nvSpPr>
          <p:cNvPr id="14" name="Text 12"/>
          <p:cNvSpPr/>
          <p:nvPr/>
        </p:nvSpPr>
        <p:spPr>
          <a:xfrm>
            <a:off x="601675" y="3344875"/>
            <a:ext cx="2362810" cy="640690"/>
          </a:xfrm>
          <a:prstGeom prst="rect">
            <a:avLst/>
          </a:prstGeom>
          <a:solidFill>
            <a:srgbClr val="FFFFFF"/>
          </a:solidFill>
          <a:ln w="5080">
            <a:solidFill>
              <a:srgbClr val="BFD7E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F2937"/>
                </a:solidFill>
              </a:rPr>
              <a:t>discount_outlier</a:t>
            </a:r>
            <a:endParaRPr lang="en-US" sz="1030" dirty="0"/>
          </a:p>
        </p:txBody>
      </p:sp>
      <p:sp>
        <p:nvSpPr>
          <p:cNvPr id="15" name="Text 13"/>
          <p:cNvSpPr/>
          <p:nvPr/>
        </p:nvSpPr>
        <p:spPr>
          <a:xfrm>
            <a:off x="2979115" y="3344875"/>
            <a:ext cx="3963010" cy="640690"/>
          </a:xfrm>
          <a:prstGeom prst="rect">
            <a:avLst/>
          </a:prstGeom>
          <a:solidFill>
            <a:srgbClr val="FFFFFF"/>
          </a:solidFill>
          <a:ln w="5080">
            <a:solidFill>
              <a:srgbClr val="BFD7E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F2937"/>
                </a:solidFill>
              </a:rPr>
              <a:t>promo_discount &gt; 30.000</a:t>
            </a:r>
            <a:endParaRPr lang="en-US" sz="1030" dirty="0"/>
          </a:p>
        </p:txBody>
      </p:sp>
      <p:sp>
        <p:nvSpPr>
          <p:cNvPr id="16" name="Text 14"/>
          <p:cNvSpPr/>
          <p:nvPr/>
        </p:nvSpPr>
        <p:spPr>
          <a:xfrm>
            <a:off x="6956755" y="3344875"/>
            <a:ext cx="4603090" cy="640690"/>
          </a:xfrm>
          <a:prstGeom prst="rect">
            <a:avLst/>
          </a:prstGeom>
          <a:solidFill>
            <a:srgbClr val="FFFFFF"/>
          </a:solidFill>
          <a:ln w="5080">
            <a:solidFill>
              <a:srgbClr val="BFD7E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F2937"/>
                </a:solidFill>
              </a:rPr>
              <a:t>Mendeteksi promo ekstrem</a:t>
            </a:r>
            <a:endParaRPr lang="en-US" sz="1030" dirty="0"/>
          </a:p>
        </p:txBody>
      </p:sp>
      <p:sp>
        <p:nvSpPr>
          <p:cNvPr id="17" name="Text 15"/>
          <p:cNvSpPr/>
          <p:nvPr/>
        </p:nvSpPr>
        <p:spPr>
          <a:xfrm>
            <a:off x="601675" y="4000195"/>
            <a:ext cx="2362810" cy="640690"/>
          </a:xfrm>
          <a:prstGeom prst="rect">
            <a:avLst/>
          </a:prstGeom>
          <a:solidFill>
            <a:srgbClr val="F8FBFF"/>
          </a:solidFill>
          <a:ln w="5080">
            <a:solidFill>
              <a:srgbClr val="BFD7E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F2937"/>
                </a:solidFill>
              </a:rPr>
              <a:t>positive_promo</a:t>
            </a:r>
            <a:endParaRPr lang="en-US" sz="1030" dirty="0"/>
          </a:p>
        </p:txBody>
      </p:sp>
      <p:sp>
        <p:nvSpPr>
          <p:cNvPr id="18" name="Text 16"/>
          <p:cNvSpPr/>
          <p:nvPr/>
        </p:nvSpPr>
        <p:spPr>
          <a:xfrm>
            <a:off x="2979115" y="4000195"/>
            <a:ext cx="3963010" cy="640690"/>
          </a:xfrm>
          <a:prstGeom prst="rect">
            <a:avLst/>
          </a:prstGeom>
          <a:solidFill>
            <a:srgbClr val="F8FBFF"/>
          </a:solidFill>
          <a:ln w="5080">
            <a:solidFill>
              <a:srgbClr val="BFD7E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F2937"/>
                </a:solidFill>
              </a:rPr>
              <a:t>max(promo_discount, 0)</a:t>
            </a:r>
            <a:endParaRPr lang="en-US" sz="1030" dirty="0"/>
          </a:p>
        </p:txBody>
      </p:sp>
      <p:sp>
        <p:nvSpPr>
          <p:cNvPr id="19" name="Text 17"/>
          <p:cNvSpPr/>
          <p:nvPr/>
        </p:nvSpPr>
        <p:spPr>
          <a:xfrm>
            <a:off x="6956755" y="4000195"/>
            <a:ext cx="4603090" cy="640690"/>
          </a:xfrm>
          <a:prstGeom prst="rect">
            <a:avLst/>
          </a:prstGeom>
          <a:solidFill>
            <a:srgbClr val="F8FBFF"/>
          </a:solidFill>
          <a:ln w="5080">
            <a:solidFill>
              <a:srgbClr val="BFD7E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F2937"/>
                </a:solidFill>
              </a:rPr>
              <a:t>Estimasi subsidi tidak negatif</a:t>
            </a:r>
            <a:endParaRPr lang="en-US" sz="1030" dirty="0"/>
          </a:p>
        </p:txBody>
      </p:sp>
      <p:sp>
        <p:nvSpPr>
          <p:cNvPr id="20" name="Text 18"/>
          <p:cNvSpPr/>
          <p:nvPr/>
        </p:nvSpPr>
        <p:spPr>
          <a:xfrm>
            <a:off x="601675" y="4655515"/>
            <a:ext cx="2362810" cy="640690"/>
          </a:xfrm>
          <a:prstGeom prst="rect">
            <a:avLst/>
          </a:prstGeom>
          <a:solidFill>
            <a:srgbClr val="FFFFFF"/>
          </a:solidFill>
          <a:ln w="5080">
            <a:solidFill>
              <a:srgbClr val="BFD7E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F2937"/>
                </a:solidFill>
              </a:rPr>
              <a:t>subsidy_risk_flag</a:t>
            </a:r>
            <a:endParaRPr lang="en-US" sz="1030" dirty="0"/>
          </a:p>
        </p:txBody>
      </p:sp>
      <p:sp>
        <p:nvSpPr>
          <p:cNvPr id="21" name="Text 19"/>
          <p:cNvSpPr/>
          <p:nvPr/>
        </p:nvSpPr>
        <p:spPr>
          <a:xfrm>
            <a:off x="2979115" y="4655515"/>
            <a:ext cx="3963010" cy="640690"/>
          </a:xfrm>
          <a:prstGeom prst="rect">
            <a:avLst/>
          </a:prstGeom>
          <a:solidFill>
            <a:srgbClr val="FFFFFF"/>
          </a:solidFill>
          <a:ln w="5080">
            <a:solidFill>
              <a:srgbClr val="BFD7E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F2937"/>
                </a:solidFill>
              </a:rPr>
              <a:t>discount_outlier OR logical_error</a:t>
            </a:r>
            <a:endParaRPr lang="en-US" sz="1030" dirty="0"/>
          </a:p>
        </p:txBody>
      </p:sp>
      <p:sp>
        <p:nvSpPr>
          <p:cNvPr id="22" name="Text 20"/>
          <p:cNvSpPr/>
          <p:nvPr/>
        </p:nvSpPr>
        <p:spPr>
          <a:xfrm>
            <a:off x="6956755" y="4655515"/>
            <a:ext cx="4603090" cy="640690"/>
          </a:xfrm>
          <a:prstGeom prst="rect">
            <a:avLst/>
          </a:prstGeom>
          <a:solidFill>
            <a:srgbClr val="FFFFFF"/>
          </a:solidFill>
          <a:ln w="5080">
            <a:solidFill>
              <a:srgbClr val="BFD7E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F2937"/>
                </a:solidFill>
              </a:rPr>
              <a:t>Gabungan order berisiko tanpa double count</a:t>
            </a:r>
            <a:endParaRPr lang="en-US" sz="1030" dirty="0"/>
          </a:p>
        </p:txBody>
      </p:sp>
      <p:sp>
        <p:nvSpPr>
          <p:cNvPr id="23" name="Text 21"/>
          <p:cNvSpPr/>
          <p:nvPr/>
        </p:nvSpPr>
        <p:spPr>
          <a:xfrm>
            <a:off x="1188720" y="5532120"/>
            <a:ext cx="9784080" cy="640080"/>
          </a:xfrm>
          <a:prstGeom prst="rect">
            <a:avLst/>
          </a:prstGeom>
          <a:solidFill>
            <a:srgbClr val="F2F8FF"/>
          </a:solidFill>
          <a:ln w="10160">
            <a:solidFill>
              <a:srgbClr val="BFD7E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2E74B5"/>
                </a:solidFill>
              </a:rPr>
              <a:t>Catatan</a:t>
            </a:r>
            <a:r>
              <a:rPr lang="en-US" sz="1200" b="1" dirty="0">
                <a:solidFill>
                  <a:srgbClr val="2E74B5"/>
                </a:solidFill>
              </a:rPr>
              <a:t>
</a:t>
            </a:r>
            <a:r>
              <a:rPr lang="en-US" sz="1300" dirty="0">
                <a:solidFill>
                  <a:srgbClr val="1F2937"/>
                </a:solidFill>
              </a:rPr>
              <a:t>Feature engineering bukan memvonis fraud, tetapi membuat indikator awal agar transaksi mencurigakan bisa dianalisis lebih lanjut.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647395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193A9"/>
                </a:solidFill>
              </a:rPr>
              <a:t>4. Data Cleaning dan Feature Engineering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027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C8CA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92608"/>
            <a:ext cx="1024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A5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Exploratory Data Analysis: KPI Utama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9552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KPI memberi gambaran cepat mengenai kesehatan transaksi dan besarnya area risiko.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48640" y="1115568"/>
            <a:ext cx="11064240" cy="0"/>
          </a:xfrm>
          <a:prstGeom prst="line">
            <a:avLst/>
          </a:prstGeom>
          <a:noFill/>
          <a:ln w="12700">
            <a:solidFill>
              <a:srgbClr val="BFD7ED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828800" cy="868680"/>
          </a:xfrm>
          <a:prstGeom prst="rect">
            <a:avLst/>
          </a:prstGeom>
          <a:solidFill>
            <a:srgbClr val="F2F8FF"/>
          </a:solidFill>
          <a:ln w="10160">
            <a:solidFill>
              <a:srgbClr val="BFD7ED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E74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300.000
</a:t>
            </a:r>
            <a:r>
              <a:rPr lang="en-US" sz="1050" dirty="0">
                <a:solidFill>
                  <a:srgbClr val="173A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orders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606040" y="1417320"/>
            <a:ext cx="1828800" cy="868680"/>
          </a:xfrm>
          <a:prstGeom prst="rect">
            <a:avLst/>
          </a:prstGeom>
          <a:solidFill>
            <a:srgbClr val="F2F8FF"/>
          </a:solidFill>
          <a:ln w="10160">
            <a:solidFill>
              <a:srgbClr val="BFD7ED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E74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14,95%
</a:t>
            </a:r>
            <a:r>
              <a:rPr lang="en-US" sz="1050" dirty="0">
                <a:solidFill>
                  <a:srgbClr val="173A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Cancellation rate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663440" y="1417320"/>
            <a:ext cx="1828800" cy="868680"/>
          </a:xfrm>
          <a:prstGeom prst="rect">
            <a:avLst/>
          </a:prstGeom>
          <a:solidFill>
            <a:srgbClr val="F2F8FF"/>
          </a:solidFill>
          <a:ln w="10160">
            <a:solidFill>
              <a:srgbClr val="BFD7ED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E74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19,97%
</a:t>
            </a:r>
            <a:r>
              <a:rPr lang="en-US" sz="1050" dirty="0">
                <a:solidFill>
                  <a:srgbClr val="173A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Unsuccessful rate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720840" y="1417320"/>
            <a:ext cx="1828800" cy="868680"/>
          </a:xfrm>
          <a:prstGeom prst="rect">
            <a:avLst/>
          </a:prstGeom>
          <a:solidFill>
            <a:srgbClr val="F2F8FF"/>
          </a:solidFill>
          <a:ln w="10160">
            <a:solidFill>
              <a:srgbClr val="BFD7ED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E74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30,12%
</a:t>
            </a:r>
            <a:r>
              <a:rPr lang="en-US" sz="1050" dirty="0">
                <a:solidFill>
                  <a:srgbClr val="173A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Dirty raw status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778240" y="1417320"/>
            <a:ext cx="2194560" cy="868680"/>
          </a:xfrm>
          <a:prstGeom prst="rect">
            <a:avLst/>
          </a:prstGeom>
          <a:solidFill>
            <a:srgbClr val="F2F8FF"/>
          </a:solidFill>
          <a:ln w="10160">
            <a:solidFill>
              <a:srgbClr val="BFD7ED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E74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40,27%
</a:t>
            </a:r>
            <a:r>
              <a:rPr lang="en-US" sz="1050" dirty="0">
                <a:solidFill>
                  <a:srgbClr val="173A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cancel reason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2743200"/>
            <a:ext cx="2194560" cy="960120"/>
          </a:xfrm>
          <a:prstGeom prst="rect">
            <a:avLst/>
          </a:prstGeom>
          <a:solidFill>
            <a:srgbClr val="F2F8FF"/>
          </a:solidFill>
          <a:ln w="10160">
            <a:solidFill>
              <a:srgbClr val="BFD7ED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E74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9.603
</a:t>
            </a:r>
            <a:r>
              <a:rPr lang="en-US" sz="1050" dirty="0">
                <a:solidFill>
                  <a:srgbClr val="173A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Logical error orders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520440" y="2743200"/>
            <a:ext cx="2194560" cy="960120"/>
          </a:xfrm>
          <a:prstGeom prst="rect">
            <a:avLst/>
          </a:prstGeom>
          <a:solidFill>
            <a:srgbClr val="F2F8FF"/>
          </a:solidFill>
          <a:ln w="10160">
            <a:solidFill>
              <a:srgbClr val="BFD7ED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E74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1.488
</a:t>
            </a:r>
            <a:r>
              <a:rPr lang="en-US" sz="1050" dirty="0">
                <a:solidFill>
                  <a:srgbClr val="173A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Promo outlier orders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126480" y="2743200"/>
            <a:ext cx="2194560" cy="960120"/>
          </a:xfrm>
          <a:prstGeom prst="rect">
            <a:avLst/>
          </a:prstGeom>
          <a:solidFill>
            <a:srgbClr val="F2F8FF"/>
          </a:solidFill>
          <a:ln w="10160">
            <a:solidFill>
              <a:srgbClr val="BFD7ED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E74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11.091
</a:t>
            </a:r>
            <a:r>
              <a:rPr lang="en-US" sz="1050" dirty="0">
                <a:solidFill>
                  <a:srgbClr val="173A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 terindikasi berisiko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732520" y="2743200"/>
            <a:ext cx="2194560" cy="960120"/>
          </a:xfrm>
          <a:prstGeom prst="rect">
            <a:avLst/>
          </a:prstGeom>
          <a:solidFill>
            <a:srgbClr val="F2F8FF"/>
          </a:solidFill>
          <a:ln w="10160">
            <a:solidFill>
              <a:srgbClr val="BFD7ED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73A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Rp15,2 M
</a:t>
            </a:r>
            <a:r>
              <a:rPr lang="en-US" sz="1050" dirty="0">
                <a:solidFill>
                  <a:srgbClr val="173A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Subsidi promo berisiko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60120" y="4389120"/>
            <a:ext cx="9966960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</a:rPr>
              <a:t>• KPI menegaskan masalah terbesar ada pada kualitas data dan nilai promo ekstrem.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</a:rPr>
              <a:t>• Risk subsidy union adalah estimasi subsidi pada transaksi dengan promo tidak wajar atau kesalahan waktu transaksi.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</a:rPr>
              <a:t>• Angka risiko belum berarti fraud terkonfirmasi; perlu investigasi lanjutan.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48640" y="647395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193A9"/>
                </a:solidFill>
              </a:rPr>
              <a:t>5. Exploratory Data Analysis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027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C8CA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92608"/>
            <a:ext cx="1024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A5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EDA: Visualisasi Status Mentah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9552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Grafik menunjukkan mengapa standardisasi status diperlukan sebelum menghitung metrik operasional.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48640" y="1115568"/>
            <a:ext cx="11064240" cy="0"/>
          </a:xfrm>
          <a:prstGeom prst="line">
            <a:avLst/>
          </a:prstGeom>
          <a:noFill/>
          <a:ln w="12700">
            <a:solidFill>
              <a:srgbClr val="BFD7ED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5" name="Image 0" descr="/mnt/data/grab_ppt_prof_assets/status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706938"/>
            <a:ext cx="6720840" cy="35812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543800" y="1600200"/>
            <a:ext cx="3840480" cy="914400"/>
          </a:xfrm>
          <a:prstGeom prst="rect">
            <a:avLst/>
          </a:prstGeom>
          <a:solidFill>
            <a:srgbClr val="F2F8FF"/>
          </a:solidFill>
          <a:ln w="10160">
            <a:solidFill>
              <a:srgbClr val="BFD7E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2E74B5"/>
                </a:solidFill>
              </a:rPr>
              <a:t>Insight
</a:t>
            </a:r>
            <a:r>
              <a:rPr lang="en-US" sz="1300" dirty="0">
                <a:solidFill>
                  <a:srgbClr val="1F2937"/>
                </a:solidFill>
              </a:rPr>
              <a:t>Ada 7 label mentah, padahal secara bisnis hanya 3 makna utama: Completed, Canceled, Failed.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543800" y="2880360"/>
            <a:ext cx="3840480" cy="1143000"/>
          </a:xfrm>
          <a:prstGeom prst="rect">
            <a:avLst/>
          </a:prstGeom>
          <a:solidFill>
            <a:srgbClr val="FFFFFF"/>
          </a:solidFill>
          <a:ln w="10160">
            <a:solidFill>
              <a:srgbClr val="BFD7E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2E74B5"/>
                </a:solidFill>
              </a:rPr>
              <a:t>Risiko jika tidak dibersihkan
</a:t>
            </a:r>
            <a:r>
              <a:rPr lang="en-US" sz="1300" dirty="0">
                <a:solidFill>
                  <a:srgbClr val="1F2937"/>
                </a:solidFill>
              </a:rPr>
              <a:t>Cancellation rate bisa undercount apabila hanya menghitung label “Cancel” dan mengabaikan “CANCELED” atau “batal”.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543800" y="4389120"/>
            <a:ext cx="3840480" cy="868680"/>
          </a:xfrm>
          <a:prstGeom prst="rect">
            <a:avLst/>
          </a:prstGeom>
          <a:solidFill>
            <a:srgbClr val="FFFFFF"/>
          </a:solidFill>
          <a:ln w="10160">
            <a:solidFill>
              <a:srgbClr val="BFD7E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2E74B5"/>
                </a:solidFill>
              </a:rPr>
              <a:t>Nilai data quality
</a:t>
            </a:r>
            <a:r>
              <a:rPr lang="en-US" sz="1300" dirty="0">
                <a:solidFill>
                  <a:srgbClr val="1F2937"/>
                </a:solidFill>
              </a:rPr>
              <a:t>30,12% baris memakai label status yang tidak termasuk format utama.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647395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193A9"/>
                </a:solidFill>
              </a:rPr>
              <a:t>5. Exploratory Data Analysis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027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C8CA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92608"/>
            <a:ext cx="1024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A5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EDA: Distribusi Cancel Reason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9552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Fokus pada order Canceled/Failed untuk memahami kualitas pencatatan alasan pembatalan.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48640" y="1115568"/>
            <a:ext cx="11064240" cy="0"/>
          </a:xfrm>
          <a:prstGeom prst="line">
            <a:avLst/>
          </a:prstGeom>
          <a:noFill/>
          <a:ln w="12700">
            <a:solidFill>
              <a:srgbClr val="BFD7ED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5" name="Image 0" descr="/mnt/data/grab_ppt_prof_assets/cancel_rea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706938"/>
            <a:ext cx="6720840" cy="35812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635240" y="1508760"/>
            <a:ext cx="3429000" cy="1143000"/>
          </a:xfrm>
          <a:prstGeom prst="rect">
            <a:avLst/>
          </a:prstGeom>
          <a:solidFill>
            <a:srgbClr val="F2F8FF"/>
          </a:solidFill>
          <a:ln w="10160">
            <a:solidFill>
              <a:srgbClr val="BFD7ED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2E74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40,27%
</a:t>
            </a:r>
            <a:r>
              <a:rPr lang="en-US" sz="1050" dirty="0">
                <a:solidFill>
                  <a:srgbClr val="173A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 gagal/batal tanpa alasan pembatalan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635240" y="2971800"/>
            <a:ext cx="3520440" cy="1828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F2937"/>
                </a:solidFill>
              </a:rPr>
              <a:t>• Missing reason menghambat investigasi dan kompensasi driver.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F2937"/>
                </a:solidFill>
              </a:rPr>
              <a:t>• “Resto Tidak Ditemukan” relevan sebagai sinyal lokasi merchant bermasalah.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F2937"/>
                </a:solidFill>
              </a:rPr>
              <a:t>• Validasi alasan pembatalan perlu dibuat wajib dan terstruktur.</a:t>
            </a:r>
            <a:endParaRPr lang="en-US" sz="1320" dirty="0"/>
          </a:p>
        </p:txBody>
      </p:sp>
      <p:sp>
        <p:nvSpPr>
          <p:cNvPr id="8" name="Text 5"/>
          <p:cNvSpPr/>
          <p:nvPr/>
        </p:nvSpPr>
        <p:spPr>
          <a:xfrm>
            <a:off x="548640" y="647395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193A9"/>
                </a:solidFill>
              </a:rPr>
              <a:t>5. Exploratory Data Analysis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027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C8CA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92608"/>
            <a:ext cx="1024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A5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EDA: Estimasi Kebocoran Promo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9552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Mengukur nilai subsidi yang terekspos pada transaksi dengan promo ekstrem atau logical error.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48640" y="1115568"/>
            <a:ext cx="11064240" cy="0"/>
          </a:xfrm>
          <a:prstGeom prst="line">
            <a:avLst/>
          </a:prstGeom>
          <a:noFill/>
          <a:ln w="12700">
            <a:solidFill>
              <a:srgbClr val="BFD7ED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5" name="Image 0" descr="/mnt/data/grab_ppt_prof_assets/promo_summ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719119"/>
            <a:ext cx="6675120" cy="355692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543800" y="1508760"/>
            <a:ext cx="3429000" cy="868680"/>
          </a:xfrm>
          <a:prstGeom prst="rect">
            <a:avLst/>
          </a:prstGeom>
          <a:solidFill>
            <a:srgbClr val="F2F8FF"/>
          </a:solidFill>
          <a:ln w="10160">
            <a:solidFill>
              <a:srgbClr val="BFD7ED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E74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Rp18,1 M
</a:t>
            </a:r>
            <a:r>
              <a:rPr lang="en-US" sz="1050" dirty="0">
                <a:solidFill>
                  <a:srgbClr val="173A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promo positif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543800" y="2606040"/>
            <a:ext cx="3429000" cy="960120"/>
          </a:xfrm>
          <a:prstGeom prst="rect">
            <a:avLst/>
          </a:prstGeom>
          <a:solidFill>
            <a:srgbClr val="F2F8FF"/>
          </a:solidFill>
          <a:ln w="10160">
            <a:solidFill>
              <a:srgbClr val="BFD7ED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73A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Rp15,2 M
</a:t>
            </a:r>
            <a:r>
              <a:rPr lang="en-US" sz="1050" dirty="0">
                <a:solidFill>
                  <a:srgbClr val="173A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perkiraan subsidi promo berisiko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543800" y="3840480"/>
            <a:ext cx="3429000" cy="960120"/>
          </a:xfrm>
          <a:prstGeom prst="rect">
            <a:avLst/>
          </a:prstGeom>
          <a:solidFill>
            <a:srgbClr val="F2F8FF"/>
          </a:solidFill>
          <a:ln w="10160">
            <a:solidFill>
              <a:srgbClr val="BFD7ED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74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83,7%
</a:t>
            </a:r>
            <a:r>
              <a:rPr lang="en-US" sz="1050" dirty="0">
                <a:solidFill>
                  <a:srgbClr val="173A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terhadap total promo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589520" y="5074920"/>
            <a:ext cx="333756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</a:rPr>
              <a:t>Catatan: estimasi risiko, bukan kerugian fraud yang sudah terkonfirmasi.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48640" y="647395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193A9"/>
                </a:solidFill>
              </a:rPr>
              <a:t>5. Exploratory Data Analysis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027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C8CA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92608"/>
            <a:ext cx="1024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A5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EDA: Logical Error Timestamp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9552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Mencari order Completed yang selesai sebelum driver tercatat tiba di resto.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48640" y="1115568"/>
            <a:ext cx="11064240" cy="0"/>
          </a:xfrm>
          <a:prstGeom prst="line">
            <a:avLst/>
          </a:prstGeom>
          <a:noFill/>
          <a:ln w="12700">
            <a:solidFill>
              <a:srgbClr val="BFD7ED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5" name="Image 0" descr="/mnt/data/grab_ppt_prof_assets/monthly_anoma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697762"/>
            <a:ext cx="6583680" cy="350819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498080" y="1417320"/>
            <a:ext cx="3520440" cy="960120"/>
          </a:xfrm>
          <a:prstGeom prst="rect">
            <a:avLst/>
          </a:prstGeom>
          <a:solidFill>
            <a:srgbClr val="F2F8FF"/>
          </a:solidFill>
          <a:ln w="10160">
            <a:solidFill>
              <a:srgbClr val="BFD7ED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2E74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9.603
</a:t>
            </a:r>
            <a:r>
              <a:rPr lang="en-US" sz="1050" dirty="0">
                <a:solidFill>
                  <a:srgbClr val="173A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completed order dengan waktu tidak logis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498080" y="2606040"/>
            <a:ext cx="3520440" cy="960120"/>
          </a:xfrm>
          <a:prstGeom prst="rect">
            <a:avLst/>
          </a:prstGeom>
          <a:solidFill>
            <a:srgbClr val="F2F8FF"/>
          </a:solidFill>
          <a:ln w="10160">
            <a:solidFill>
              <a:srgbClr val="BFD7ED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2E74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4,00%
</a:t>
            </a:r>
            <a:r>
              <a:rPr lang="en-US" sz="1050" dirty="0">
                <a:solidFill>
                  <a:srgbClr val="173A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dari completed orders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543800" y="3886200"/>
            <a:ext cx="3520440" cy="1463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1F2937"/>
                </a:solidFill>
              </a:rPr>
              <a:t>• Secara proses bisnis, order tidak mungkin selesai sebelum driver tiba di resto.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1F2937"/>
                </a:solidFill>
              </a:rPr>
              <a:t>• Indikator ini dapat mengarah ke bug sistem atau manipulasi status.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1F2937"/>
                </a:solidFill>
              </a:rPr>
              <a:t>• Prioritas investigasi makin kuat jika muncul bersamaan dengan promo ekstrem.</a:t>
            </a:r>
            <a:endParaRPr lang="en-US" sz="1260" dirty="0"/>
          </a:p>
        </p:txBody>
      </p:sp>
      <p:sp>
        <p:nvSpPr>
          <p:cNvPr id="9" name="Text 6"/>
          <p:cNvSpPr/>
          <p:nvPr/>
        </p:nvSpPr>
        <p:spPr>
          <a:xfrm>
            <a:off x="548640" y="647395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193A9"/>
                </a:solidFill>
              </a:rPr>
              <a:t>5. Exploratory Data Analysis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027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C8CA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92608"/>
            <a:ext cx="1024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A5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Merchant Risk Analysis: Framework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9552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Risk score dibuat untuk memprioritaskan investigasi, bukan untuk memvonis merchant sebagai fraud.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48640" y="1115568"/>
            <a:ext cx="11064240" cy="0"/>
          </a:xfrm>
          <a:prstGeom prst="line">
            <a:avLst/>
          </a:prstGeom>
          <a:noFill/>
          <a:ln w="12700">
            <a:solidFill>
              <a:srgbClr val="BFD7ED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5" name="Image 0" descr="/mnt/data/grab_ppt_prof_assets/risk_score_compon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763078"/>
            <a:ext cx="5943600" cy="26003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12280" y="1508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3A5E"/>
                </a:solidFill>
              </a:rPr>
              <a:t>Formula ringkas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812280" y="1874520"/>
            <a:ext cx="4297680" cy="1371600"/>
          </a:xfrm>
          <a:prstGeom prst="rect">
            <a:avLst/>
          </a:prstGeom>
          <a:solidFill>
            <a:srgbClr val="F2F8FF"/>
          </a:solidFill>
          <a:ln>
            <a:solidFill>
              <a:srgbClr val="BFD7E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Risk Score =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F2937"/>
                </a:solidFill>
              </a:rPr>
              <a:t>5×Promo Outlier + 2×Logical Error + 1,5×Resto Tidak Ditemukan + Bonus Success Ratio P95 + Bonus GrabUnlimited Ratio P95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839712" y="3566160"/>
            <a:ext cx="4251960" cy="1508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• Bobot lebih besar diberikan pada sinyal dengan dampak finansial/operasional kuat.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• Merchant dengan skor tertinggi masuk daftar prioritas investigasi.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• Konsentrasi user tetap dicek, tetapi tidak menjadi sinyal dominan pada dataset ini.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647395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193A9"/>
                </a:solidFill>
              </a:rPr>
              <a:t>6. Merchant Risk Analysis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027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C8CA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92608"/>
            <a:ext cx="1024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A5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Merchant Risk Analysis: Top Prioritas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9552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Daftar merchant diurutkan berdasarkan akumulasi red flag operasional dan promo.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48640" y="1115568"/>
            <a:ext cx="11064240" cy="0"/>
          </a:xfrm>
          <a:prstGeom prst="line">
            <a:avLst/>
          </a:prstGeom>
          <a:noFill/>
          <a:ln w="12700">
            <a:solidFill>
              <a:srgbClr val="BFD7ED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5" name="Image 0" descr="/mnt/data/grab_ppt_prof_assets/top_ris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829036"/>
            <a:ext cx="6537960" cy="37942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60920" y="13533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3A5E"/>
                </a:solidFill>
              </a:rPr>
              <a:t>Cara membaca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406640" y="1737360"/>
            <a:ext cx="3840480" cy="1737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1F2937"/>
                </a:solidFill>
              </a:rPr>
              <a:t>• Bar chart menunjukkan merchant dengan risk score tertinggi.</a:t>
            </a: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1F2937"/>
                </a:solidFill>
              </a:rPr>
              <a:t>• Skor tinggi biasanya didorong oleh promo outlier, logical error, atau cancel reason “Resto Tidak Ditemukan”.</a:t>
            </a: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1F2937"/>
                </a:solidFill>
              </a:rPr>
              <a:t>• Daftar ini menjadi antrean investigasi Merchant Quality/Fraud Ops.</a:t>
            </a:r>
            <a:endParaRPr lang="en-US" sz="1280" dirty="0"/>
          </a:p>
        </p:txBody>
      </p:sp>
      <p:sp>
        <p:nvSpPr>
          <p:cNvPr id="8" name="Text 5"/>
          <p:cNvSpPr/>
          <p:nvPr/>
        </p:nvSpPr>
        <p:spPr>
          <a:xfrm>
            <a:off x="7368235" y="4167835"/>
            <a:ext cx="1311250" cy="271120"/>
          </a:xfrm>
          <a:prstGeom prst="rect">
            <a:avLst/>
          </a:prstGeom>
          <a:solidFill>
            <a:srgbClr val="2E74B5"/>
          </a:solidFill>
          <a:ln w="5080">
            <a:solidFill>
              <a:srgbClr val="BFD7E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30" b="1" dirty="0">
                <a:solidFill>
                  <a:srgbClr val="FFFFFF"/>
                </a:solidFill>
              </a:rPr>
              <a:t>Merchant</a:t>
            </a:r>
            <a:endParaRPr lang="en-US" sz="1030" dirty="0"/>
          </a:p>
        </p:txBody>
      </p:sp>
      <p:sp>
        <p:nvSpPr>
          <p:cNvPr id="9" name="Text 6"/>
          <p:cNvSpPr/>
          <p:nvPr/>
        </p:nvSpPr>
        <p:spPr>
          <a:xfrm>
            <a:off x="8694115" y="4167835"/>
            <a:ext cx="1448410" cy="271120"/>
          </a:xfrm>
          <a:prstGeom prst="rect">
            <a:avLst/>
          </a:prstGeom>
          <a:solidFill>
            <a:srgbClr val="2E74B5"/>
          </a:solidFill>
          <a:ln w="5080">
            <a:solidFill>
              <a:srgbClr val="BFD7E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30" b="1" dirty="0">
                <a:solidFill>
                  <a:srgbClr val="FFFFFF"/>
                </a:solidFill>
              </a:rPr>
              <a:t>Cuisine</a:t>
            </a:r>
            <a:endParaRPr lang="en-US" sz="1030" dirty="0"/>
          </a:p>
        </p:txBody>
      </p:sp>
      <p:sp>
        <p:nvSpPr>
          <p:cNvPr id="10" name="Text 7"/>
          <p:cNvSpPr/>
          <p:nvPr/>
        </p:nvSpPr>
        <p:spPr>
          <a:xfrm>
            <a:off x="10157155" y="4167835"/>
            <a:ext cx="945490" cy="271120"/>
          </a:xfrm>
          <a:prstGeom prst="rect">
            <a:avLst/>
          </a:prstGeom>
          <a:solidFill>
            <a:srgbClr val="2E74B5"/>
          </a:solidFill>
          <a:ln w="5080">
            <a:solidFill>
              <a:srgbClr val="BFD7E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30" b="1" dirty="0">
                <a:solidFill>
                  <a:srgbClr val="FFFFFF"/>
                </a:solidFill>
              </a:rPr>
              <a:t>Score</a:t>
            </a:r>
            <a:endParaRPr lang="en-US" sz="1030" dirty="0"/>
          </a:p>
        </p:txBody>
      </p:sp>
      <p:sp>
        <p:nvSpPr>
          <p:cNvPr id="11" name="Text 8"/>
          <p:cNvSpPr/>
          <p:nvPr/>
        </p:nvSpPr>
        <p:spPr>
          <a:xfrm>
            <a:off x="7368235" y="4453585"/>
            <a:ext cx="1311250" cy="271120"/>
          </a:xfrm>
          <a:prstGeom prst="rect">
            <a:avLst/>
          </a:prstGeom>
          <a:solidFill>
            <a:srgbClr val="FFFFFF"/>
          </a:solidFill>
          <a:ln w="5080">
            <a:solidFill>
              <a:srgbClr val="BFD7E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F2937"/>
                </a:solidFill>
              </a:rPr>
              <a:t>GF-06878</a:t>
            </a:r>
            <a:endParaRPr lang="en-US" sz="1030" dirty="0"/>
          </a:p>
        </p:txBody>
      </p:sp>
      <p:sp>
        <p:nvSpPr>
          <p:cNvPr id="12" name="Text 9"/>
          <p:cNvSpPr/>
          <p:nvPr/>
        </p:nvSpPr>
        <p:spPr>
          <a:xfrm>
            <a:off x="8694115" y="4453585"/>
            <a:ext cx="1448410" cy="271120"/>
          </a:xfrm>
          <a:prstGeom prst="rect">
            <a:avLst/>
          </a:prstGeom>
          <a:solidFill>
            <a:srgbClr val="FFFFFF"/>
          </a:solidFill>
          <a:ln w="5080">
            <a:solidFill>
              <a:srgbClr val="BFD7E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F2937"/>
                </a:solidFill>
              </a:rPr>
              <a:t>Martabak</a:t>
            </a:r>
            <a:endParaRPr lang="en-US" sz="1030" dirty="0"/>
          </a:p>
        </p:txBody>
      </p:sp>
      <p:sp>
        <p:nvSpPr>
          <p:cNvPr id="13" name="Text 10"/>
          <p:cNvSpPr/>
          <p:nvPr/>
        </p:nvSpPr>
        <p:spPr>
          <a:xfrm>
            <a:off x="10157155" y="4453585"/>
            <a:ext cx="945490" cy="271120"/>
          </a:xfrm>
          <a:prstGeom prst="rect">
            <a:avLst/>
          </a:prstGeom>
          <a:solidFill>
            <a:srgbClr val="FFFFFF"/>
          </a:solidFill>
          <a:ln w="5080">
            <a:solidFill>
              <a:srgbClr val="BFD7E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F2937"/>
                </a:solidFill>
              </a:rPr>
              <a:t>23.5</a:t>
            </a:r>
            <a:endParaRPr lang="en-US" sz="1030" dirty="0"/>
          </a:p>
        </p:txBody>
      </p:sp>
      <p:sp>
        <p:nvSpPr>
          <p:cNvPr id="14" name="Text 11"/>
          <p:cNvSpPr/>
          <p:nvPr/>
        </p:nvSpPr>
        <p:spPr>
          <a:xfrm>
            <a:off x="7368235" y="4739335"/>
            <a:ext cx="1311250" cy="271120"/>
          </a:xfrm>
          <a:prstGeom prst="rect">
            <a:avLst/>
          </a:prstGeom>
          <a:solidFill>
            <a:srgbClr val="F8FBFF"/>
          </a:solidFill>
          <a:ln w="5080">
            <a:solidFill>
              <a:srgbClr val="BFD7E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F2937"/>
                </a:solidFill>
              </a:rPr>
              <a:t>GF-00361</a:t>
            </a:r>
            <a:endParaRPr lang="en-US" sz="1030" dirty="0"/>
          </a:p>
        </p:txBody>
      </p:sp>
      <p:sp>
        <p:nvSpPr>
          <p:cNvPr id="15" name="Text 12"/>
          <p:cNvSpPr/>
          <p:nvPr/>
        </p:nvSpPr>
        <p:spPr>
          <a:xfrm>
            <a:off x="8694115" y="4739335"/>
            <a:ext cx="1448410" cy="271120"/>
          </a:xfrm>
          <a:prstGeom prst="rect">
            <a:avLst/>
          </a:prstGeom>
          <a:solidFill>
            <a:srgbClr val="F8FBFF"/>
          </a:solidFill>
          <a:ln w="5080">
            <a:solidFill>
              <a:srgbClr val="BFD7E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F2937"/>
                </a:solidFill>
              </a:rPr>
              <a:t>Beverages</a:t>
            </a:r>
            <a:endParaRPr lang="en-US" sz="1030" dirty="0"/>
          </a:p>
        </p:txBody>
      </p:sp>
      <p:sp>
        <p:nvSpPr>
          <p:cNvPr id="16" name="Text 13"/>
          <p:cNvSpPr/>
          <p:nvPr/>
        </p:nvSpPr>
        <p:spPr>
          <a:xfrm>
            <a:off x="10157155" y="4739335"/>
            <a:ext cx="945490" cy="271120"/>
          </a:xfrm>
          <a:prstGeom prst="rect">
            <a:avLst/>
          </a:prstGeom>
          <a:solidFill>
            <a:srgbClr val="F8FBFF"/>
          </a:solidFill>
          <a:ln w="5080">
            <a:solidFill>
              <a:srgbClr val="BFD7E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F2937"/>
                </a:solidFill>
              </a:rPr>
              <a:t>21.5</a:t>
            </a:r>
            <a:endParaRPr lang="en-US" sz="1030" dirty="0"/>
          </a:p>
        </p:txBody>
      </p:sp>
      <p:sp>
        <p:nvSpPr>
          <p:cNvPr id="17" name="Text 14"/>
          <p:cNvSpPr/>
          <p:nvPr/>
        </p:nvSpPr>
        <p:spPr>
          <a:xfrm>
            <a:off x="7368235" y="5025085"/>
            <a:ext cx="1311250" cy="271120"/>
          </a:xfrm>
          <a:prstGeom prst="rect">
            <a:avLst/>
          </a:prstGeom>
          <a:solidFill>
            <a:srgbClr val="FFFFFF"/>
          </a:solidFill>
          <a:ln w="5080">
            <a:solidFill>
              <a:srgbClr val="BFD7E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F2937"/>
                </a:solidFill>
              </a:rPr>
              <a:t>GF-01585</a:t>
            </a:r>
            <a:endParaRPr lang="en-US" sz="1030" dirty="0"/>
          </a:p>
        </p:txBody>
      </p:sp>
      <p:sp>
        <p:nvSpPr>
          <p:cNvPr id="18" name="Text 15"/>
          <p:cNvSpPr/>
          <p:nvPr/>
        </p:nvSpPr>
        <p:spPr>
          <a:xfrm>
            <a:off x="8694115" y="5025085"/>
            <a:ext cx="1448410" cy="271120"/>
          </a:xfrm>
          <a:prstGeom prst="rect">
            <a:avLst/>
          </a:prstGeom>
          <a:solidFill>
            <a:srgbClr val="FFFFFF"/>
          </a:solidFill>
          <a:ln w="5080">
            <a:solidFill>
              <a:srgbClr val="BFD7E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F2937"/>
                </a:solidFill>
              </a:rPr>
              <a:t>Beverages</a:t>
            </a:r>
            <a:endParaRPr lang="en-US" sz="1030" dirty="0"/>
          </a:p>
        </p:txBody>
      </p:sp>
      <p:sp>
        <p:nvSpPr>
          <p:cNvPr id="19" name="Text 16"/>
          <p:cNvSpPr/>
          <p:nvPr/>
        </p:nvSpPr>
        <p:spPr>
          <a:xfrm>
            <a:off x="10157155" y="5025085"/>
            <a:ext cx="945490" cy="271120"/>
          </a:xfrm>
          <a:prstGeom prst="rect">
            <a:avLst/>
          </a:prstGeom>
          <a:solidFill>
            <a:srgbClr val="FFFFFF"/>
          </a:solidFill>
          <a:ln w="5080">
            <a:solidFill>
              <a:srgbClr val="BFD7E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F2937"/>
                </a:solidFill>
              </a:rPr>
              <a:t>21.5</a:t>
            </a:r>
            <a:endParaRPr lang="en-US" sz="1030" dirty="0"/>
          </a:p>
        </p:txBody>
      </p:sp>
      <p:sp>
        <p:nvSpPr>
          <p:cNvPr id="20" name="Text 17"/>
          <p:cNvSpPr/>
          <p:nvPr/>
        </p:nvSpPr>
        <p:spPr>
          <a:xfrm>
            <a:off x="7360920" y="553212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</a:rPr>
              <a:t>Catatan: prioritas investigasi, bukan label fraud final.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548640" y="647395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193A9"/>
                </a:solidFill>
              </a:rPr>
              <a:t>6. Merchant Risk Analysis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027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C8CA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92608"/>
            <a:ext cx="1024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A5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Merchant Risk Analysis: Konsentrasi User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9552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Hipotesis 2–3 user dominan tidak terbukti pada dataset ini.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48640" y="1115568"/>
            <a:ext cx="11064240" cy="0"/>
          </a:xfrm>
          <a:prstGeom prst="line">
            <a:avLst/>
          </a:prstGeom>
          <a:noFill/>
          <a:ln w="12700">
            <a:solidFill>
              <a:srgbClr val="BFD7ED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5" name="Image 0" descr="/mnt/data/grab_ppt_prof_assets/scatter_concentr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697762"/>
            <a:ext cx="6583680" cy="350819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543800" y="1417320"/>
            <a:ext cx="3566160" cy="960120"/>
          </a:xfrm>
          <a:prstGeom prst="rect">
            <a:avLst/>
          </a:prstGeom>
          <a:solidFill>
            <a:srgbClr val="F2F8FF"/>
          </a:solidFill>
          <a:ln w="10160">
            <a:solidFill>
              <a:srgbClr val="BFD7ED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E74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
</a:t>
            </a:r>
            <a:r>
              <a:rPr lang="en-US" sz="1050" dirty="0">
                <a:solidFill>
                  <a:srgbClr val="173A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merchant didominasi ≤3 user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543800" y="2606040"/>
            <a:ext cx="3566160" cy="960120"/>
          </a:xfrm>
          <a:prstGeom prst="rect">
            <a:avLst/>
          </a:prstGeom>
          <a:solidFill>
            <a:srgbClr val="F2F8FF"/>
          </a:solidFill>
          <a:ln w="10160">
            <a:solidFill>
              <a:srgbClr val="BFD7ED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2E74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
</a:t>
            </a:r>
            <a:r>
              <a:rPr lang="en-US" sz="1050" dirty="0">
                <a:solidFill>
                  <a:srgbClr val="173A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minimum unique users per merchant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543800" y="3794760"/>
            <a:ext cx="3566160" cy="960120"/>
          </a:xfrm>
          <a:prstGeom prst="rect">
            <a:avLst/>
          </a:prstGeom>
          <a:solidFill>
            <a:srgbClr val="F2F8FF"/>
          </a:solidFill>
          <a:ln w="10160">
            <a:solidFill>
              <a:srgbClr val="BFD7ED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74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16,7%
</a:t>
            </a:r>
            <a:r>
              <a:rPr lang="en-US" sz="1050" dirty="0">
                <a:solidFill>
                  <a:srgbClr val="173A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maksimum top-3 user share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589520" y="5074920"/>
            <a:ext cx="352044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Kesimpulan: prioritas risiko lebih kuat berasal dari promo ekstrem, logical error, dan alasan “Resto Tidak Ditemukan”.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48640" y="647395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193A9"/>
                </a:solidFill>
              </a:rPr>
              <a:t>6. Merchant Risk Analysis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027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C8CA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92608"/>
            <a:ext cx="1024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A5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Merchant Risk Analysis: Cuisine Type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9552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Risiko subsidi outlier dapat dilihat juga dari kategori makanan untuk mendukung prioritas monitoring.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48640" y="1115568"/>
            <a:ext cx="11064240" cy="0"/>
          </a:xfrm>
          <a:prstGeom prst="line">
            <a:avLst/>
          </a:prstGeom>
          <a:noFill/>
          <a:ln w="12700">
            <a:solidFill>
              <a:srgbClr val="BFD7ED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5" name="Image 0" descr="/mnt/data/grab_ppt_prof_assets/cuisine_ris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706938"/>
            <a:ext cx="6720840" cy="35812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635240" y="1508760"/>
            <a:ext cx="3429000" cy="1005840"/>
          </a:xfrm>
          <a:prstGeom prst="rect">
            <a:avLst/>
          </a:prstGeom>
          <a:solidFill>
            <a:srgbClr val="F2F8FF"/>
          </a:solidFill>
          <a:ln w="10160">
            <a:solidFill>
              <a:srgbClr val="BFD7ED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E74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Snacks
</a:t>
            </a:r>
            <a:r>
              <a:rPr lang="en-US" sz="1050" dirty="0">
                <a:solidFill>
                  <a:srgbClr val="173A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cuisine dengan outlier subsidy tertinggi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635240" y="2880360"/>
            <a:ext cx="3520440" cy="1828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• Kategori Snacks paling besar secara nilai outlier subsidy.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• Fast Food dan Seafood menyusul sebagai area monitoring.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• Cuisine type membantu menyusun segmentasi monitoring, bukan bukti fraud tunggal.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647395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193A9"/>
                </a:solidFill>
              </a:rPr>
              <a:t>6. Merchant Risk Analysis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027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C8CA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92608"/>
            <a:ext cx="1024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A5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7. Jawaban Pertanyaan Bisnis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9552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Ringkasan jawaban berbasis hasil cleaning, EDA, dan merchant risk analysis.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48640" y="1115568"/>
            <a:ext cx="11064240" cy="0"/>
          </a:xfrm>
          <a:prstGeom prst="line">
            <a:avLst/>
          </a:prstGeom>
          <a:noFill/>
          <a:ln w="12700">
            <a:solidFill>
              <a:srgbClr val="BFD7ED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" name="Text 3"/>
          <p:cNvSpPr/>
          <p:nvPr/>
        </p:nvSpPr>
        <p:spPr>
          <a:xfrm>
            <a:off x="601675" y="1305763"/>
            <a:ext cx="4008730" cy="684232"/>
          </a:xfrm>
          <a:prstGeom prst="rect">
            <a:avLst/>
          </a:prstGeom>
          <a:solidFill>
            <a:srgbClr val="2E74B5"/>
          </a:solidFill>
          <a:ln w="5080">
            <a:solidFill>
              <a:srgbClr val="BFD7E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FFFFFF"/>
                </a:solidFill>
              </a:rPr>
              <a:t>Pertanyaan</a:t>
            </a:r>
            <a:endParaRPr lang="en-US" sz="1030" dirty="0"/>
          </a:p>
        </p:txBody>
      </p:sp>
      <p:sp>
        <p:nvSpPr>
          <p:cNvPr id="6" name="Text 4"/>
          <p:cNvSpPr/>
          <p:nvPr/>
        </p:nvSpPr>
        <p:spPr>
          <a:xfrm>
            <a:off x="4625035" y="1305763"/>
            <a:ext cx="6934810" cy="684232"/>
          </a:xfrm>
          <a:prstGeom prst="rect">
            <a:avLst/>
          </a:prstGeom>
          <a:solidFill>
            <a:srgbClr val="2E74B5"/>
          </a:solidFill>
          <a:ln w="5080">
            <a:solidFill>
              <a:srgbClr val="BFD7E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FFFFFF"/>
                </a:solidFill>
              </a:rPr>
              <a:t>Jawaban utama</a:t>
            </a:r>
            <a:endParaRPr lang="en-US" sz="1030" dirty="0"/>
          </a:p>
        </p:txBody>
      </p:sp>
      <p:sp>
        <p:nvSpPr>
          <p:cNvPr id="7" name="Text 5"/>
          <p:cNvSpPr/>
          <p:nvPr/>
        </p:nvSpPr>
        <p:spPr>
          <a:xfrm>
            <a:off x="601675" y="2004626"/>
            <a:ext cx="4008730" cy="684232"/>
          </a:xfrm>
          <a:prstGeom prst="rect">
            <a:avLst/>
          </a:prstGeom>
          <a:solidFill>
            <a:srgbClr val="FFFFFF"/>
          </a:solidFill>
          <a:ln w="5080">
            <a:solidFill>
              <a:srgbClr val="BFD7E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F2937"/>
                </a:solidFill>
              </a:rPr>
              <a:t>Merchant dengan dominasi 2–3 user?</a:t>
            </a:r>
            <a:endParaRPr lang="en-US" sz="1030" dirty="0"/>
          </a:p>
        </p:txBody>
      </p:sp>
      <p:sp>
        <p:nvSpPr>
          <p:cNvPr id="8" name="Text 6"/>
          <p:cNvSpPr/>
          <p:nvPr/>
        </p:nvSpPr>
        <p:spPr>
          <a:xfrm>
            <a:off x="4625035" y="2004626"/>
            <a:ext cx="6934810" cy="684232"/>
          </a:xfrm>
          <a:prstGeom prst="rect">
            <a:avLst/>
          </a:prstGeom>
          <a:solidFill>
            <a:srgbClr val="FFFFFF"/>
          </a:solidFill>
          <a:ln w="5080">
            <a:solidFill>
              <a:srgbClr val="BFD7E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F2937"/>
                </a:solidFill>
              </a:rPr>
              <a:t>Tidak ditemukan. Minimum unique user per merchant = 18.</a:t>
            </a:r>
            <a:endParaRPr lang="en-US" sz="1030" dirty="0"/>
          </a:p>
        </p:txBody>
      </p:sp>
      <p:sp>
        <p:nvSpPr>
          <p:cNvPr id="9" name="Text 7"/>
          <p:cNvSpPr/>
          <p:nvPr/>
        </p:nvSpPr>
        <p:spPr>
          <a:xfrm>
            <a:off x="601675" y="2703489"/>
            <a:ext cx="4008730" cy="684232"/>
          </a:xfrm>
          <a:prstGeom prst="rect">
            <a:avLst/>
          </a:prstGeom>
          <a:solidFill>
            <a:srgbClr val="F8FBFF"/>
          </a:solidFill>
          <a:ln w="5080">
            <a:solidFill>
              <a:srgbClr val="BFD7E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F2937"/>
                </a:solidFill>
              </a:rPr>
              <a:t>Estimasi subsidi promo berisiko?</a:t>
            </a:r>
            <a:endParaRPr lang="en-US" sz="1030" dirty="0"/>
          </a:p>
        </p:txBody>
      </p:sp>
      <p:sp>
        <p:nvSpPr>
          <p:cNvPr id="10" name="Text 8"/>
          <p:cNvSpPr/>
          <p:nvPr/>
        </p:nvSpPr>
        <p:spPr>
          <a:xfrm>
            <a:off x="4625035" y="2703489"/>
            <a:ext cx="6934810" cy="684232"/>
          </a:xfrm>
          <a:prstGeom prst="rect">
            <a:avLst/>
          </a:prstGeom>
          <a:solidFill>
            <a:srgbClr val="F8FBFF"/>
          </a:solidFill>
          <a:ln w="5080">
            <a:solidFill>
              <a:srgbClr val="BFD7E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F2937"/>
                </a:solidFill>
              </a:rPr>
              <a:t>Rp15,2 M dari union promo outlier + logical error.</a:t>
            </a:r>
            <a:endParaRPr lang="en-US" sz="1030" dirty="0"/>
          </a:p>
        </p:txBody>
      </p:sp>
      <p:sp>
        <p:nvSpPr>
          <p:cNvPr id="11" name="Text 9"/>
          <p:cNvSpPr/>
          <p:nvPr/>
        </p:nvSpPr>
        <p:spPr>
          <a:xfrm>
            <a:off x="601675" y="3402352"/>
            <a:ext cx="4008730" cy="684232"/>
          </a:xfrm>
          <a:prstGeom prst="rect">
            <a:avLst/>
          </a:prstGeom>
          <a:solidFill>
            <a:srgbClr val="FFFFFF"/>
          </a:solidFill>
          <a:ln w="5080">
            <a:solidFill>
              <a:srgbClr val="BFD7E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F2937"/>
                </a:solidFill>
              </a:rPr>
              <a:t>Kualitas status order?</a:t>
            </a:r>
            <a:endParaRPr lang="en-US" sz="1030" dirty="0"/>
          </a:p>
        </p:txBody>
      </p:sp>
      <p:sp>
        <p:nvSpPr>
          <p:cNvPr id="12" name="Text 10"/>
          <p:cNvSpPr/>
          <p:nvPr/>
        </p:nvSpPr>
        <p:spPr>
          <a:xfrm>
            <a:off x="4625035" y="3402352"/>
            <a:ext cx="6934810" cy="684232"/>
          </a:xfrm>
          <a:prstGeom prst="rect">
            <a:avLst/>
          </a:prstGeom>
          <a:solidFill>
            <a:srgbClr val="FFFFFF"/>
          </a:solidFill>
          <a:ln w="5080">
            <a:solidFill>
              <a:srgbClr val="BFD7E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F2937"/>
                </a:solidFill>
              </a:rPr>
              <a:t>7 label mentah distandardisasi menjadi 3 status. Dirty raw status 30,12%.</a:t>
            </a:r>
            <a:endParaRPr lang="en-US" sz="1030" dirty="0"/>
          </a:p>
        </p:txBody>
      </p:sp>
      <p:sp>
        <p:nvSpPr>
          <p:cNvPr id="13" name="Text 11"/>
          <p:cNvSpPr/>
          <p:nvPr/>
        </p:nvSpPr>
        <p:spPr>
          <a:xfrm>
            <a:off x="601675" y="4101215"/>
            <a:ext cx="4008730" cy="684232"/>
          </a:xfrm>
          <a:prstGeom prst="rect">
            <a:avLst/>
          </a:prstGeom>
          <a:solidFill>
            <a:srgbClr val="F8FBFF"/>
          </a:solidFill>
          <a:ln w="5080">
            <a:solidFill>
              <a:srgbClr val="BFD7E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F2937"/>
                </a:solidFill>
              </a:rPr>
              <a:t>Order gagal/batal tanpa cancel reason?</a:t>
            </a:r>
            <a:endParaRPr lang="en-US" sz="1030" dirty="0"/>
          </a:p>
        </p:txBody>
      </p:sp>
      <p:sp>
        <p:nvSpPr>
          <p:cNvPr id="14" name="Text 12"/>
          <p:cNvSpPr/>
          <p:nvPr/>
        </p:nvSpPr>
        <p:spPr>
          <a:xfrm>
            <a:off x="4625035" y="4101215"/>
            <a:ext cx="6934810" cy="684232"/>
          </a:xfrm>
          <a:prstGeom prst="rect">
            <a:avLst/>
          </a:prstGeom>
          <a:solidFill>
            <a:srgbClr val="F8FBFF"/>
          </a:solidFill>
          <a:ln w="5080">
            <a:solidFill>
              <a:srgbClr val="BFD7E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F2937"/>
                </a:solidFill>
              </a:rPr>
              <a:t>40,27% order Canceled/Failed tidak memiliki alasan pembatalan.</a:t>
            </a:r>
            <a:endParaRPr lang="en-US" sz="1030" dirty="0"/>
          </a:p>
        </p:txBody>
      </p:sp>
      <p:sp>
        <p:nvSpPr>
          <p:cNvPr id="15" name="Text 13"/>
          <p:cNvSpPr/>
          <p:nvPr/>
        </p:nvSpPr>
        <p:spPr>
          <a:xfrm>
            <a:off x="601675" y="4800077"/>
            <a:ext cx="4008730" cy="684232"/>
          </a:xfrm>
          <a:prstGeom prst="rect">
            <a:avLst/>
          </a:prstGeom>
          <a:solidFill>
            <a:srgbClr val="FFFFFF"/>
          </a:solidFill>
          <a:ln w="5080">
            <a:solidFill>
              <a:srgbClr val="BFD7E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F2937"/>
                </a:solidFill>
              </a:rPr>
              <a:t>Logical error?</a:t>
            </a:r>
            <a:endParaRPr lang="en-US" sz="1030" dirty="0"/>
          </a:p>
        </p:txBody>
      </p:sp>
      <p:sp>
        <p:nvSpPr>
          <p:cNvPr id="16" name="Text 14"/>
          <p:cNvSpPr/>
          <p:nvPr/>
        </p:nvSpPr>
        <p:spPr>
          <a:xfrm>
            <a:off x="4625035" y="4800077"/>
            <a:ext cx="6934810" cy="684232"/>
          </a:xfrm>
          <a:prstGeom prst="rect">
            <a:avLst/>
          </a:prstGeom>
          <a:solidFill>
            <a:srgbClr val="FFFFFF"/>
          </a:solidFill>
          <a:ln w="5080">
            <a:solidFill>
              <a:srgbClr val="BFD7E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F2937"/>
                </a:solidFill>
              </a:rPr>
              <a:t>9.603 order Completed memiliki urutan waktu mustahil.</a:t>
            </a:r>
            <a:endParaRPr lang="en-US" sz="1030" dirty="0"/>
          </a:p>
        </p:txBody>
      </p:sp>
      <p:sp>
        <p:nvSpPr>
          <p:cNvPr id="17" name="Text 15"/>
          <p:cNvSpPr/>
          <p:nvPr/>
        </p:nvSpPr>
        <p:spPr>
          <a:xfrm>
            <a:off x="601675" y="5498940"/>
            <a:ext cx="4008730" cy="684232"/>
          </a:xfrm>
          <a:prstGeom prst="rect">
            <a:avLst/>
          </a:prstGeom>
          <a:solidFill>
            <a:srgbClr val="F8FBFF"/>
          </a:solidFill>
          <a:ln w="5080">
            <a:solidFill>
              <a:srgbClr val="BFD7E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F2937"/>
                </a:solidFill>
              </a:rPr>
              <a:t>Cuisine paling berisiko?</a:t>
            </a:r>
            <a:endParaRPr lang="en-US" sz="1030" dirty="0"/>
          </a:p>
        </p:txBody>
      </p:sp>
      <p:sp>
        <p:nvSpPr>
          <p:cNvPr id="18" name="Text 16"/>
          <p:cNvSpPr/>
          <p:nvPr/>
        </p:nvSpPr>
        <p:spPr>
          <a:xfrm>
            <a:off x="4625035" y="5498940"/>
            <a:ext cx="6934810" cy="684232"/>
          </a:xfrm>
          <a:prstGeom prst="rect">
            <a:avLst/>
          </a:prstGeom>
          <a:solidFill>
            <a:srgbClr val="F8FBFF"/>
          </a:solidFill>
          <a:ln w="5080">
            <a:solidFill>
              <a:srgbClr val="BFD7E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F2937"/>
                </a:solidFill>
              </a:rPr>
              <a:t>Snacks, disusul kategori besar lain seperti Fast Food dan Seafood.</a:t>
            </a:r>
            <a:endParaRPr lang="en-US" sz="1030" dirty="0"/>
          </a:p>
        </p:txBody>
      </p:sp>
      <p:sp>
        <p:nvSpPr>
          <p:cNvPr id="19" name="Text 17"/>
          <p:cNvSpPr/>
          <p:nvPr/>
        </p:nvSpPr>
        <p:spPr>
          <a:xfrm>
            <a:off x="548640" y="647395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193A9"/>
                </a:solidFill>
              </a:rPr>
              <a:t>7. Jawaban Pertanyaan Bisnis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027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C8CA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92608"/>
            <a:ext cx="1024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A5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8. Kesimpulan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9552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Temuan utama menunjukkan kombinasi masalah subsidi, sistem, dan kualitas data.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48640" y="1115568"/>
            <a:ext cx="11064240" cy="0"/>
          </a:xfrm>
          <a:prstGeom prst="line">
            <a:avLst/>
          </a:prstGeom>
          <a:noFill/>
          <a:ln w="12700">
            <a:solidFill>
              <a:srgbClr val="BFD7ED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" name="Text 3"/>
          <p:cNvSpPr/>
          <p:nvPr/>
        </p:nvSpPr>
        <p:spPr>
          <a:xfrm>
            <a:off x="1140730" y="1545336"/>
            <a:ext cx="3474720" cy="1371600"/>
          </a:xfrm>
          <a:prstGeom prst="rect">
            <a:avLst/>
          </a:prstGeom>
          <a:solidFill>
            <a:srgbClr val="F2F8FF"/>
          </a:solidFill>
          <a:ln w="10160">
            <a:solidFill>
              <a:srgbClr val="BFD7E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2E74B5"/>
                </a:solidFill>
              </a:rPr>
              <a:t>1. Hipotesis 2–3 user tidak terbukti
</a:t>
            </a:r>
            <a:r>
              <a:rPr lang="en-US" sz="1300" dirty="0">
                <a:solidFill>
                  <a:srgbClr val="1F2937"/>
                </a:solidFill>
              </a:rPr>
              <a:t>Tidak ada merchant dengan pola transaksi yang terkonsentrasi hanya pada 2–3 user.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498867" y="3081527"/>
            <a:ext cx="3474720" cy="1371600"/>
          </a:xfrm>
          <a:prstGeom prst="rect">
            <a:avLst/>
          </a:prstGeom>
          <a:solidFill>
            <a:srgbClr val="FFFFFF"/>
          </a:solidFill>
          <a:ln w="10160">
            <a:solidFill>
              <a:srgbClr val="BFD7E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2E74B5"/>
                </a:solidFill>
              </a:rPr>
              <a:t>2. Risiko subsidi sangat dominan
</a:t>
            </a:r>
            <a:r>
              <a:rPr lang="en-US" sz="1300" dirty="0">
                <a:solidFill>
                  <a:srgbClr val="1F2937"/>
                </a:solidFill>
              </a:rPr>
              <a:t>1.488 order promo outlier menyerap nilai subsidi yang sangat besar.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78096" y="4226040"/>
            <a:ext cx="3474720" cy="1371600"/>
          </a:xfrm>
          <a:prstGeom prst="rect">
            <a:avLst/>
          </a:prstGeom>
          <a:solidFill>
            <a:srgbClr val="FFFFFF"/>
          </a:solidFill>
          <a:ln w="10160">
            <a:solidFill>
              <a:srgbClr val="BFD7E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2E74B5"/>
                </a:solidFill>
              </a:rPr>
              <a:t>3. Kualitas data perlu diperbaiki
</a:t>
            </a:r>
            <a:r>
              <a:rPr lang="en-US" sz="1300" dirty="0">
                <a:solidFill>
                  <a:srgbClr val="1F2937"/>
                </a:solidFill>
              </a:rPr>
              <a:t>40,27% order gagal/batal tidak memiliki cancel reason sehingga investigasi terhambat.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647395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193A9"/>
                </a:solidFill>
              </a:rPr>
              <a:t>8. Kesimpulan dan Rekomendasi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027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C8CA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92608"/>
            <a:ext cx="1024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A5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8. Rekomendasi Actionable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9552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Rekomendasi diarahkan pada pembatasan subsidi, perbaikan sistem, dan monitoring operasional.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48640" y="1115568"/>
            <a:ext cx="11064240" cy="0"/>
          </a:xfrm>
          <a:prstGeom prst="line">
            <a:avLst/>
          </a:prstGeom>
          <a:noFill/>
          <a:ln w="12700">
            <a:solidFill>
              <a:srgbClr val="BFD7ED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" name="Text 3"/>
          <p:cNvSpPr/>
          <p:nvPr/>
        </p:nvSpPr>
        <p:spPr>
          <a:xfrm>
            <a:off x="685800" y="137160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4B5"/>
                </a:solidFill>
              </a:rPr>
              <a:t>Prioritas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920240" y="1408177"/>
            <a:ext cx="9601200" cy="667512"/>
          </a:xfrm>
          <a:prstGeom prst="rect">
            <a:avLst/>
          </a:prstGeom>
          <a:solidFill>
            <a:srgbClr val="F2F8FF"/>
          </a:solidFill>
          <a:ln w="7620">
            <a:solidFill>
              <a:srgbClr val="BFD7ED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F2937"/>
                </a:solidFill>
              </a:rPr>
              <a:t>Batasi promo per order maksimal Rp30.000 atau wajibkan approval untuk promo di atas threshold.</a:t>
            </a:r>
            <a:endParaRPr lang="en-US" sz="1320" dirty="0"/>
          </a:p>
        </p:txBody>
      </p:sp>
      <p:sp>
        <p:nvSpPr>
          <p:cNvPr id="7" name="Text 5"/>
          <p:cNvSpPr/>
          <p:nvPr/>
        </p:nvSpPr>
        <p:spPr>
          <a:xfrm>
            <a:off x="1920240" y="139903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40" b="1" dirty="0">
                <a:solidFill>
                  <a:srgbClr val="173A5E"/>
                </a:solidFill>
              </a:rPr>
              <a:t>Promo Ring-Fencing</a:t>
            </a:r>
            <a:endParaRPr lang="en-US" sz="1340" dirty="0"/>
          </a:p>
        </p:txBody>
      </p:sp>
      <p:sp>
        <p:nvSpPr>
          <p:cNvPr id="8" name="Text 6"/>
          <p:cNvSpPr/>
          <p:nvPr/>
        </p:nvSpPr>
        <p:spPr>
          <a:xfrm>
            <a:off x="685800" y="233172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4B5"/>
                </a:solidFill>
              </a:rPr>
              <a:t>Prioritas 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920240" y="2331720"/>
            <a:ext cx="9601200" cy="667512"/>
          </a:xfrm>
          <a:prstGeom prst="rect">
            <a:avLst/>
          </a:prstGeom>
          <a:solidFill>
            <a:srgbClr val="FFFFFF"/>
          </a:solidFill>
          <a:ln w="7620">
            <a:solidFill>
              <a:srgbClr val="BFD7ED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1320" dirty="0" err="1">
                <a:solidFill>
                  <a:srgbClr val="1F2937"/>
                </a:solidFill>
              </a:rPr>
              <a:t>Blokir</a:t>
            </a:r>
            <a:r>
              <a:rPr lang="en-US" sz="1320" dirty="0">
                <a:solidFill>
                  <a:srgbClr val="1F2937"/>
                </a:solidFill>
              </a:rPr>
              <a:t> status Completed jika GPS driver belum valid berada dalam radius merchant/customer.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1920240" y="235915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40" b="1" dirty="0">
                <a:solidFill>
                  <a:srgbClr val="173A5E"/>
                </a:solidFill>
              </a:rPr>
              <a:t>System Patching</a:t>
            </a:r>
            <a:endParaRPr lang="en-US" sz="1340" dirty="0"/>
          </a:p>
        </p:txBody>
      </p:sp>
      <p:sp>
        <p:nvSpPr>
          <p:cNvPr id="11" name="Text 9"/>
          <p:cNvSpPr/>
          <p:nvPr/>
        </p:nvSpPr>
        <p:spPr>
          <a:xfrm>
            <a:off x="685800" y="329184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4B5"/>
                </a:solidFill>
              </a:rPr>
              <a:t>Prioritas 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920240" y="3332988"/>
            <a:ext cx="9601200" cy="667512"/>
          </a:xfrm>
          <a:prstGeom prst="rect">
            <a:avLst/>
          </a:prstGeom>
          <a:solidFill>
            <a:srgbClr val="FFFFFF"/>
          </a:solidFill>
          <a:ln w="7620">
            <a:solidFill>
              <a:srgbClr val="BFD7ED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1320" dirty="0" err="1">
                <a:solidFill>
                  <a:srgbClr val="1F2937"/>
                </a:solidFill>
              </a:rPr>
              <a:t>Pantau</a:t>
            </a:r>
            <a:r>
              <a:rPr lang="en-US" sz="1320" dirty="0">
                <a:solidFill>
                  <a:srgbClr val="1F2937"/>
                </a:solidFill>
              </a:rPr>
              <a:t> harian merchant berdasarkan promo outlier, logical error, dan “Resto Tidak Ditemukan”.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1920240" y="331927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40" b="1" dirty="0">
                <a:solidFill>
                  <a:srgbClr val="173A5E"/>
                </a:solidFill>
              </a:rPr>
              <a:t>Merchant Risk Dashboard</a:t>
            </a:r>
            <a:endParaRPr lang="en-US" sz="1340" dirty="0"/>
          </a:p>
        </p:txBody>
      </p:sp>
      <p:sp>
        <p:nvSpPr>
          <p:cNvPr id="14" name="Text 12"/>
          <p:cNvSpPr/>
          <p:nvPr/>
        </p:nvSpPr>
        <p:spPr>
          <a:xfrm>
            <a:off x="685800" y="425196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4B5"/>
                </a:solidFill>
              </a:rPr>
              <a:t>Prioritas 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920240" y="4242817"/>
            <a:ext cx="9601200" cy="667512"/>
          </a:xfrm>
          <a:prstGeom prst="rect">
            <a:avLst/>
          </a:prstGeom>
          <a:solidFill>
            <a:srgbClr val="FFFFFF"/>
          </a:solidFill>
          <a:ln w="7620">
            <a:solidFill>
              <a:srgbClr val="BFD7ED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1320" dirty="0" err="1">
                <a:solidFill>
                  <a:srgbClr val="1F2937"/>
                </a:solidFill>
              </a:rPr>
              <a:t>Gunakan</a:t>
            </a:r>
            <a:r>
              <a:rPr lang="en-US" sz="1320" dirty="0">
                <a:solidFill>
                  <a:srgbClr val="1F2937"/>
                </a:solidFill>
              </a:rPr>
              <a:t> enum/dropdown status dan wajib isi cancel reason untuk order gagal/batal.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1920240" y="427939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40" b="1" dirty="0">
                <a:solidFill>
                  <a:srgbClr val="173A5E"/>
                </a:solidFill>
              </a:rPr>
              <a:t>Data Standardization</a:t>
            </a:r>
            <a:endParaRPr lang="en-US" sz="1340" dirty="0"/>
          </a:p>
        </p:txBody>
      </p:sp>
      <p:sp>
        <p:nvSpPr>
          <p:cNvPr id="17" name="Text 15"/>
          <p:cNvSpPr/>
          <p:nvPr/>
        </p:nvSpPr>
        <p:spPr>
          <a:xfrm>
            <a:off x="685800" y="521208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4B5"/>
                </a:solidFill>
              </a:rPr>
              <a:t>Prioritas 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920240" y="5230368"/>
            <a:ext cx="9601200" cy="667512"/>
          </a:xfrm>
          <a:prstGeom prst="rect">
            <a:avLst/>
          </a:prstGeom>
          <a:solidFill>
            <a:srgbClr val="FFFFFF"/>
          </a:solidFill>
          <a:ln w="7620">
            <a:solidFill>
              <a:srgbClr val="BFD7ED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1320" dirty="0" err="1">
                <a:solidFill>
                  <a:srgbClr val="1F2937"/>
                </a:solidFill>
              </a:rPr>
              <a:t>Berikan</a:t>
            </a:r>
            <a:r>
              <a:rPr lang="en-US" sz="1320" dirty="0">
                <a:solidFill>
                  <a:srgbClr val="1F2937"/>
                </a:solidFill>
              </a:rPr>
              <a:t> cancellation fee untuk driver organik yang terdampak lokasi merchant tidak valid.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1920240" y="523951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40" b="1" dirty="0">
                <a:solidFill>
                  <a:srgbClr val="173A5E"/>
                </a:solidFill>
              </a:rPr>
              <a:t>Driver Protection</a:t>
            </a:r>
            <a:endParaRPr lang="en-US" sz="1340" dirty="0"/>
          </a:p>
        </p:txBody>
      </p:sp>
      <p:sp>
        <p:nvSpPr>
          <p:cNvPr id="20" name="Text 18"/>
          <p:cNvSpPr/>
          <p:nvPr/>
        </p:nvSpPr>
        <p:spPr>
          <a:xfrm>
            <a:off x="548640" y="647395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193A9"/>
                </a:solidFill>
              </a:rPr>
              <a:t>8. Kesimpulan dan Rekomendasi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027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C8CA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2037</Words>
  <Application>Microsoft Office PowerPoint</Application>
  <PresentationFormat>Widescreen</PresentationFormat>
  <Paragraphs>309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GrabFood / Fraud Analytics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GrabFood Fraud Analytics</dc:title>
  <dc:subject>GrabFood Fraud Analytics Capstone</dc:subject>
  <dc:creator>OpenAI</dc:creator>
  <cp:lastModifiedBy>Michael</cp:lastModifiedBy>
  <cp:revision>3</cp:revision>
  <dcterms:created xsi:type="dcterms:W3CDTF">2026-08-16T13:05:18Z</dcterms:created>
  <dcterms:modified xsi:type="dcterms:W3CDTF">2026-08-16T13:29:18Z</dcterms:modified>
</cp:coreProperties>
</file>